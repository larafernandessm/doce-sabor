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61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2011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Guia de revisão de todas as tags vistas no TechNews Today, com o site da confeitaria Doce Sabor, o mesmo caso da atividade de pesquisa. Em cada slide: o código fica à esquerda, e cada clique acende uma linha, mostra a explicação embaixo e o resultado no navegador à direita.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Um grupo por clique: documento, estrutura, texto, links e contato, interação e mídia, formulários.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anatomia de uma tag, usando o link do cardápio como exemplo.</a:t>
            </a:r>
          </a:p>
          <a:p>
            <a:endParaRPr/>
          </a:p>
          <a:p>
            <a:r>
              <a:t>Clique 1: tag de abertura.</a:t>
            </a:r>
          </a:p>
          <a:p>
            <a:r>
              <a:t>Clique 2: atributo href.</a:t>
            </a:r>
          </a:p>
          <a:p>
            <a:r>
              <a:t>Clique 3: o valor, sempre entre aspas.</a:t>
            </a:r>
          </a:p>
          <a:p>
            <a:r>
              <a:t>Clique 4: o conteúdo, que é o que aparece na tela.</a:t>
            </a:r>
          </a:p>
          <a:p>
            <a:r>
              <a:t>Clique 5: a tag de fechamento, com a barra.</a:t>
            </a:r>
          </a:p>
          <a:p>
            <a:r>
              <a:t>Clique 6: o resultado no navegador.</a:t>
            </a:r>
          </a:p>
          <a:p>
            <a:r>
              <a:t>Clique 7: tags vazias, como meta e input, que não têm conteúdo nem fechamento.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 começo de todo arquivo HTML. Cada clique acende uma linha, explica e mostra o efeito à direita. Ajuda na questão 1 da atividade.</a:t>
            </a:r>
          </a:p>
          <a:p>
            <a:endParaRPr/>
          </a:p>
          <a:p>
            <a:r>
              <a:t>Clique 1: &lt;!DOCTYPE&gt;. Avisa ao navegador: esta página é HTML5. É sempre a primeira linha.</a:t>
            </a:r>
          </a:p>
          <a:p>
            <a:r>
              <a:t>Clique 2: lang="pt-br". Diz o idioma da página. Sem ele, o leitor de tela pode ler com sotaque de inglês.</a:t>
            </a:r>
          </a:p>
          <a:p>
            <a:r>
              <a:t>Clique 3: &lt;head&gt;. Os bastidores: informações para o navegador. Não aparece dentro da página.</a:t>
            </a:r>
          </a:p>
          <a:p>
            <a:r>
              <a:t>Clique 4: &lt;meta charset&gt;. UTF-8 é a tabela de letras com acento. Sem ela, "Promoção" vira "PromoÃ§Ã£o".</a:t>
            </a:r>
          </a:p>
          <a:p>
            <a:r>
              <a:t>Clique 5: viewport. Ajusta a página à largura do celular. Sem ele, tudo fica minúsculo.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Continuação do documento. A página começa sem estilo (fonte padrão do navegador). Ajuda na questão 1 da atividade.</a:t>
            </a:r>
          </a:p>
          <a:p>
            <a:endParaRPr/>
          </a:p>
          <a:p>
            <a:r>
              <a:t>Clique 1: &lt;title&gt;. O nome da página na aba do navegador e no resultado do Google.</a:t>
            </a:r>
          </a:p>
          <a:p>
            <a:r>
              <a:t>Clique 2: &lt;link&gt;. Liga o arquivo de estilo (CSS) à página. Sem ele, o estilo.css não carrega.</a:t>
            </a:r>
          </a:p>
          <a:p>
            <a:r>
              <a:t>Clique 3: &lt;body&gt;. O corpo da página: tudo o que aparece na tela fica aqui dentro.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 tags semânticas dividem a página em regiões. Semântica = a tag diz O QUE o conteúdo é. A aparência fica com o CSS. Ajuda nas questões 2 e 3.</a:t>
            </a:r>
          </a:p>
          <a:p>
            <a:endParaRPr/>
          </a:p>
          <a:p>
            <a:r>
              <a:t>Clique 1: &lt;header&gt;. O topo do site: logo, nome e slogan.</a:t>
            </a:r>
          </a:p>
          <a:p>
            <a:r>
              <a:t>Clique 2: &lt;main&gt;. O conteúdo principal. Só existe um por página.</a:t>
            </a:r>
          </a:p>
          <a:p>
            <a:r>
              <a:t>Clique 3: &lt;article&gt;. Conteúdo que faz sentido sozinho, como o bolo do mês ou uma notícia.</a:t>
            </a:r>
          </a:p>
          <a:p>
            <a:r>
              <a:t>Clique 4: &lt;section&gt;. Um bloco com tema e título próprio: Cardápio, Perguntas frequentes.</a:t>
            </a:r>
          </a:p>
          <a:p>
            <a:r>
              <a:t>Clique 5: &lt;footer&gt;. O rodapé: direitos, contato e endereço.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div não está errado, mas não tem significado. Primeiro procure a tag semântica; se nenhuma servir, use div. Ajuda nas questões 3 e 4.</a:t>
            </a:r>
          </a:p>
          <a:p>
            <a:endParaRPr/>
          </a:p>
          <a:p>
            <a:r>
              <a:t>Clique 1: &lt;div&gt;. Caixa genérica: só agrupa coisas para o CSS. Não diz o que o conteúdo é.</a:t>
            </a:r>
          </a:p>
          <a:p>
            <a:r>
              <a:t>Clique 2: &lt;header&gt; &lt;footer&gt;. Na tela fica igual! A diferença está no significado.</a:t>
            </a:r>
          </a:p>
          <a:p>
            <a:r>
              <a:t>Clique 3: leitor de tela. Com div ele só lê o texto. Com header e footer ele avisa: cabeçalho, rodapé.</a:t>
            </a:r>
          </a:p>
          <a:p>
            <a:r>
              <a:t>Clique 4: quando usar div. Quando nenhuma tag semântica combina. Ex.: juntar o checkbox e o texto para o CSS.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Títulos de h1 a h6, do mais importante para o menos importante. Ajuda na questão 3: dois h1 e um h4 depois do h1 são erros.</a:t>
            </a:r>
          </a:p>
          <a:p>
            <a:endParaRPr/>
          </a:p>
          <a:p>
            <a:r>
              <a:t>Clique 1: &lt;h1&gt;. O título mais importante da página. Use só um.</a:t>
            </a:r>
          </a:p>
          <a:p>
            <a:r>
              <a:t>Clique 2: &lt;h2&gt;. Subtítulo: abre uma parte da página.</a:t>
            </a:r>
          </a:p>
          <a:p>
            <a:r>
              <a:t>Clique 3: &lt;p&gt;. Parágrafo: um bloco de texto comum.</a:t>
            </a:r>
          </a:p>
          <a:p>
            <a:r>
              <a:t>Clique 4: &lt;h3&gt;. Um nível abaixo do h2. Não pule níveis: h1, depois h2, depois h3.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Tags que ficam DENTRO do texto e mudam o significado de um pedaço dele. Ajuda nas questões 2, 3 e 4.</a:t>
            </a:r>
          </a:p>
          <a:p>
            <a:endParaRPr/>
          </a:p>
          <a:p>
            <a:r>
              <a:t>Clique 1: &lt;strong&gt;. Importância. Aparece em negrito e o leitor de tela fala com mais força.</a:t>
            </a:r>
          </a:p>
          <a:p>
            <a:r>
              <a:t>Clique 2: &lt;em&gt;. Ênfase. Aparece em itálico, como quando a gente fala uma palavra com mais força.</a:t>
            </a:r>
          </a:p>
          <a:p>
            <a:r>
              <a:t>Clique 3: &lt;time&gt;. Uma data. A pessoa lê "31 de outubro" e o computador lê o datetime.</a:t>
            </a:r>
          </a:p>
          <a:p>
            <a:r>
              <a:t>Clique 4: &lt;b&gt; e &lt;i&gt;. Só deixam negrito e itálico na tela, sem significado. Prefira &lt;strong&gt; e &lt;em&gt;.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tag a (âncora) cria links. O destino fica no atributo href. O texto entre as tags é o que a pessoa clica. Ajuda na questão 6.</a:t>
            </a:r>
          </a:p>
          <a:p>
            <a:endParaRPr/>
          </a:p>
          <a:p>
            <a:r>
              <a:t>Clique 1: cardapio.html. Link para outra página do mesmo site.</a:t>
            </a:r>
          </a:p>
          <a:p>
            <a:r>
              <a:t>Clique 2: https://.... Link para um site de fora. Use o endereço completo, com https://.</a:t>
            </a:r>
          </a:p>
          <a:p>
            <a:r>
              <a:t>Clique 3: mailto:. Abre o aplicativo de e-mail já com o destinatário preenchido.</a:t>
            </a:r>
          </a:p>
          <a:p>
            <a:r>
              <a:t>Clique 4: tel:. No celular, já abre a ligação. Use o número só com dígitos, com +55 e o DDD.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 fim da página. Outras entidades úteis: &amp;rarr; vira → e &amp;amp; vira &amp;. Ajuda nas questões 3 e 6.</a:t>
            </a:r>
          </a:p>
          <a:p>
            <a:endParaRPr/>
          </a:p>
          <a:p>
            <a:r>
              <a:t>Clique 1: &lt;footer&gt;. O rodapé: fica no fim da página, com os direitos e o contato.</a:t>
            </a:r>
          </a:p>
          <a:p>
            <a:r>
              <a:t>Clique 2: &amp;copy; &amp;bull;. Entidades: códigos que viram símbolos. Começam com &amp; e terminam com ;.</a:t>
            </a:r>
          </a:p>
          <a:p>
            <a:r>
              <a:t>Clique 3: &lt;address&gt;. Guarda o contato da loja: e-mail e telefone. O navegador mostra em itálico.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Ótimo para perguntas frequentes. Ajuda na questão 5.</a:t>
            </a:r>
          </a:p>
          <a:p>
            <a:endParaRPr/>
          </a:p>
          <a:p>
            <a:r>
              <a:t>Clique 1: &lt;details&gt;. Uma caixa que abre e fecha sozinha, sem JavaScript.</a:t>
            </a:r>
          </a:p>
          <a:p>
            <a:r>
              <a:t>Clique 2: &lt;summary&gt;. O texto que sempre aparece. Clicar nele abre ou fecha a caixa.</a:t>
            </a:r>
          </a:p>
          <a:p>
            <a:r>
              <a:t>Clique 3: &lt;p&gt; escondido. Fica escondido. Só aparece depois do clique no summary.</a:t>
            </a:r>
          </a:p>
          <a:p>
            <a:r>
              <a:t>Clique 4: open. Com o atributo open, a caixa já começa aberta quando a página carrega.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 iframe abre uma janela para outra página. É a mesma tag do vídeo do TechNews; para o mapa, muda só o src. O pb=... é o código que o Google Maps gera. Ajuda nas questões 4 e 7.</a:t>
            </a:r>
          </a:p>
          <a:p>
            <a:endParaRPr/>
          </a:p>
          <a:p>
            <a:r>
              <a:t>Clique 1: &lt;section&gt;. Um bloco com tema e título próprio. Aqui: a localização.</a:t>
            </a:r>
          </a:p>
          <a:p>
            <a:r>
              <a:t>Clique 2: &lt;iframe&gt; src. Uma janela para outra página dentro da sua. No Google Maps: Compartilhar, Incorporar um mapa.</a:t>
            </a:r>
          </a:p>
          <a:p>
            <a:r>
              <a:t>Clique 3: width height. O tamanho do quadro em pixels: 400 de largura e 300 de altura.</a:t>
            </a:r>
          </a:p>
          <a:p>
            <a:r>
              <a:t>Clique 4: title. Descreve o que tem no quadro. É o que o leitor de tela fala. Vídeo do YouTube: só muda o src.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 formulário de encomenda envia os dados para o servidor. Cada campo tem um label ligado pelo for e pelo id. Ajuda na questão 8.</a:t>
            </a:r>
          </a:p>
          <a:p>
            <a:endParaRPr/>
          </a:p>
          <a:p>
            <a:r>
              <a:t>Clique 1: &lt;form&gt;. Agrupa os campos. action: para onde enviar. method: como enviar.</a:t>
            </a:r>
          </a:p>
          <a:p>
            <a:r>
              <a:t>Clique 2: &lt;label&gt;. O nome do campo. O for="email" liga o texto ao campo de id="email".</a:t>
            </a:r>
          </a:p>
          <a:p>
            <a:r>
              <a:t>Clique 3: &lt;input type="email"&gt;. Campo para digitar. type="email" só aceita e-mail e mostra o teclado com @ no celular.</a:t>
            </a:r>
          </a:p>
          <a:p>
            <a:r>
              <a:t>Clique 4: required. Obrigatório: o navegador não deixa enviar com o campo vazio.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lista suspensa. O texto entre as tags é para a pessoa; o value é para o servidor. Ajuda nas questões 8 e 9.</a:t>
            </a:r>
          </a:p>
          <a:p>
            <a:endParaRPr/>
          </a:p>
          <a:p>
            <a:r>
              <a:t>Clique 1: &lt;select&gt;. Cria a lista suspensa: a caixinha com a setinha.</a:t>
            </a:r>
          </a:p>
          <a:p>
            <a:r>
              <a:t>Clique 2: &lt;option&gt;. Cada opção da lista. A primeira já vem escolhida.</a:t>
            </a:r>
          </a:p>
          <a:p>
            <a:r>
              <a:t>Clique 3: value. A pessoa vê "Morango". O servidor recebe o name e o value: sabor=morango.</a:t>
            </a:r>
          </a:p>
          <a:p>
            <a:r>
              <a:t>Clique 4: for = id. O for do label tem que ser igual ao id do campo. Se forem diferentes, o texto fica solto.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Campos que deixam o formulário de encomenda completo. Erro comum: radios com name diferente deixam marcar os dois. Ajuda na questão 8.</a:t>
            </a:r>
          </a:p>
          <a:p>
            <a:endParaRPr/>
          </a:p>
          <a:p>
            <a:r>
              <a:t>Clique 1: type="date". Mostra um calendário para escolher a data. Nada de digitar errado.</a:t>
            </a:r>
          </a:p>
          <a:p>
            <a:r>
              <a:t>Clique 2: type="radio". Bolinhas de escolha. Com o mesmo name, só dá para marcar uma delas.</a:t>
            </a:r>
          </a:p>
          <a:p>
            <a:r>
              <a:t>Clique 3: &lt;textarea&gt;. Caixa de texto grande, com várias linhas. Boa para observações.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Fechamento do formulário: marcar e enviar. Ajuda na questão 8.</a:t>
            </a:r>
          </a:p>
          <a:p>
            <a:endParaRPr/>
          </a:p>
          <a:p>
            <a:r>
              <a:t>Clique 1: checkbox. Caixa de marcar: sim ou não. Dá para marcar várias em um formulário.</a:t>
            </a:r>
          </a:p>
          <a:p>
            <a:r>
              <a:t>Clique 2: &lt;label for&gt;. Clicar no texto também marca a caixa. Bem mais fácil no celular.</a:t>
            </a:r>
          </a:p>
          <a:p>
            <a:r>
              <a:t>Clique 3: &lt;div&gt;. Só junta a caixa e o texto para o CSS. Não tem significado.</a:t>
            </a:r>
          </a:p>
          <a:p>
            <a:r>
              <a:t>Clique 4: &lt;button&gt;. O botão. type="submit" envia o formulário para o action do 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Revisão final, um grupo por clique. Sugestão: peça para a turma dizer a função de cada tag antes de clicar.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B1026"/>
            </a:gs>
            <a:gs pos="100000">
              <a:srgbClr val="1C1245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14173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300">
                <a:solidFill>
                  <a:srgbClr val="C084FC"/>
                </a:solidFill>
                <a:latin typeface="Arial"/>
              </a:rPr>
              <a:t>LINGUAGEM DE MARCAÇÃO · HTML5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783080"/>
            <a:ext cx="5669280" cy="1463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A5B4FC"/>
                </a:solidFill>
                <a:latin typeface="Arial"/>
              </a:rPr>
              <a:t>Guia visual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A5B4FC"/>
                </a:solidFill>
                <a:latin typeface="Arial"/>
              </a:rPr>
              <a:t>das tags HTML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3375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5E7EB"/>
                </a:solidFill>
                <a:latin typeface="Arial"/>
              </a:rPr>
              <a:t>Cada tag explicada com o código, o que ela faz e o que aparece na tela. Exemplo: o site da confeitaria Doce Sabor.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4434840"/>
            <a:ext cx="1188720" cy="310896"/>
          </a:xfrm>
          <a:prstGeom prst="roundRect">
            <a:avLst>
              <a:gd name="adj" fmla="val 30000"/>
            </a:avLst>
          </a:prstGeom>
          <a:solidFill>
            <a:srgbClr val="1E1B4B"/>
          </a:solidFill>
          <a:ln w="12700">
            <a:solidFill>
              <a:srgbClr val="6366F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4434840"/>
            <a:ext cx="11887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2B6"/>
                </a:solidFill>
                <a:latin typeface="Courier New"/>
              </a:rPr>
              <a:t>&lt;head&gt;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84248" y="4434840"/>
            <a:ext cx="1188720" cy="310896"/>
          </a:xfrm>
          <a:prstGeom prst="roundRect">
            <a:avLst>
              <a:gd name="adj" fmla="val 30000"/>
            </a:avLst>
          </a:prstGeom>
          <a:solidFill>
            <a:srgbClr val="1E1B4B"/>
          </a:solidFill>
          <a:ln w="12700">
            <a:solidFill>
              <a:srgbClr val="6366F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84248" y="4434840"/>
            <a:ext cx="11887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2B6"/>
                </a:solidFill>
                <a:latin typeface="Courier New"/>
              </a:rPr>
              <a:t>&lt;header&gt;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82696" y="4434840"/>
            <a:ext cx="1188720" cy="310896"/>
          </a:xfrm>
          <a:prstGeom prst="roundRect">
            <a:avLst>
              <a:gd name="adj" fmla="val 30000"/>
            </a:avLst>
          </a:prstGeom>
          <a:solidFill>
            <a:srgbClr val="1E1B4B"/>
          </a:solidFill>
          <a:ln w="12700">
            <a:solidFill>
              <a:srgbClr val="6366F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82696" y="4434840"/>
            <a:ext cx="11887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2B6"/>
                </a:solidFill>
                <a:latin typeface="Courier New"/>
              </a:rPr>
              <a:t>&lt;main&gt;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81144" y="4434840"/>
            <a:ext cx="1188720" cy="310896"/>
          </a:xfrm>
          <a:prstGeom prst="roundRect">
            <a:avLst>
              <a:gd name="adj" fmla="val 30000"/>
            </a:avLst>
          </a:prstGeom>
          <a:solidFill>
            <a:srgbClr val="1E1B4B"/>
          </a:solidFill>
          <a:ln w="12700">
            <a:solidFill>
              <a:srgbClr val="6366F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1144" y="4434840"/>
            <a:ext cx="11887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2B6"/>
                </a:solidFill>
                <a:latin typeface="Courier New"/>
              </a:rPr>
              <a:t>&lt;article&gt;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846320"/>
            <a:ext cx="1188720" cy="310896"/>
          </a:xfrm>
          <a:prstGeom prst="roundRect">
            <a:avLst>
              <a:gd name="adj" fmla="val 30000"/>
            </a:avLst>
          </a:prstGeom>
          <a:solidFill>
            <a:srgbClr val="1E1B4B"/>
          </a:solidFill>
          <a:ln w="12700">
            <a:solidFill>
              <a:srgbClr val="6366F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4846320"/>
            <a:ext cx="11887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2B6"/>
                </a:solidFill>
                <a:latin typeface="Courier New"/>
              </a:rPr>
              <a:t>&lt;h1&gt;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84248" y="4846320"/>
            <a:ext cx="1188720" cy="310896"/>
          </a:xfrm>
          <a:prstGeom prst="roundRect">
            <a:avLst>
              <a:gd name="adj" fmla="val 30000"/>
            </a:avLst>
          </a:prstGeom>
          <a:solidFill>
            <a:srgbClr val="1E1B4B"/>
          </a:solidFill>
          <a:ln w="12700">
            <a:solidFill>
              <a:srgbClr val="6366F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984248" y="4846320"/>
            <a:ext cx="11887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2B6"/>
                </a:solidFill>
                <a:latin typeface="Courier New"/>
              </a:rPr>
              <a:t>&lt;strong&gt;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82696" y="4846320"/>
            <a:ext cx="1188720" cy="310896"/>
          </a:xfrm>
          <a:prstGeom prst="roundRect">
            <a:avLst>
              <a:gd name="adj" fmla="val 30000"/>
            </a:avLst>
          </a:prstGeom>
          <a:solidFill>
            <a:srgbClr val="1E1B4B"/>
          </a:solidFill>
          <a:ln w="12700">
            <a:solidFill>
              <a:srgbClr val="6366F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82696" y="4846320"/>
            <a:ext cx="11887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2B6"/>
                </a:solidFill>
                <a:latin typeface="Courier New"/>
              </a:rPr>
              <a:t>&lt;a&gt;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81144" y="4846320"/>
            <a:ext cx="1188720" cy="310896"/>
          </a:xfrm>
          <a:prstGeom prst="roundRect">
            <a:avLst>
              <a:gd name="adj" fmla="val 30000"/>
            </a:avLst>
          </a:prstGeom>
          <a:solidFill>
            <a:srgbClr val="1E1B4B"/>
          </a:solidFill>
          <a:ln w="12700">
            <a:solidFill>
              <a:srgbClr val="6366F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81144" y="4846320"/>
            <a:ext cx="11887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2B6"/>
                </a:solidFill>
                <a:latin typeface="Courier New"/>
              </a:rPr>
              <a:t>&lt;details&gt;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257800"/>
            <a:ext cx="1188720" cy="310896"/>
          </a:xfrm>
          <a:prstGeom prst="roundRect">
            <a:avLst>
              <a:gd name="adj" fmla="val 30000"/>
            </a:avLst>
          </a:prstGeom>
          <a:solidFill>
            <a:srgbClr val="1E1B4B"/>
          </a:solidFill>
          <a:ln w="12700">
            <a:solidFill>
              <a:srgbClr val="6366F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5257800"/>
            <a:ext cx="11887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2B6"/>
                </a:solidFill>
                <a:latin typeface="Courier New"/>
              </a:rPr>
              <a:t>&lt;iframe&gt;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984248" y="5257800"/>
            <a:ext cx="1188720" cy="310896"/>
          </a:xfrm>
          <a:prstGeom prst="roundRect">
            <a:avLst>
              <a:gd name="adj" fmla="val 30000"/>
            </a:avLst>
          </a:prstGeom>
          <a:solidFill>
            <a:srgbClr val="1E1B4B"/>
          </a:solidFill>
          <a:ln w="12700">
            <a:solidFill>
              <a:srgbClr val="6366F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984248" y="5257800"/>
            <a:ext cx="11887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2B6"/>
                </a:solidFill>
                <a:latin typeface="Courier New"/>
              </a:rPr>
              <a:t>&lt;form&gt;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82696" y="5257800"/>
            <a:ext cx="1188720" cy="310896"/>
          </a:xfrm>
          <a:prstGeom prst="roundRect">
            <a:avLst>
              <a:gd name="adj" fmla="val 30000"/>
            </a:avLst>
          </a:prstGeom>
          <a:solidFill>
            <a:srgbClr val="1E1B4B"/>
          </a:solidFill>
          <a:ln w="12700">
            <a:solidFill>
              <a:srgbClr val="6366F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282696" y="5257800"/>
            <a:ext cx="11887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2B6"/>
                </a:solidFill>
                <a:latin typeface="Courier New"/>
              </a:rPr>
              <a:t>&lt;input&gt;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81144" y="5257800"/>
            <a:ext cx="1188720" cy="310896"/>
          </a:xfrm>
          <a:prstGeom prst="roundRect">
            <a:avLst>
              <a:gd name="adj" fmla="val 30000"/>
            </a:avLst>
          </a:prstGeom>
          <a:solidFill>
            <a:srgbClr val="1E1B4B"/>
          </a:solidFill>
          <a:ln w="12700">
            <a:solidFill>
              <a:srgbClr val="6366F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81144" y="5257800"/>
            <a:ext cx="11887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2B6"/>
                </a:solidFill>
                <a:latin typeface="Courier New"/>
              </a:rPr>
              <a:t>&lt;select&gt;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75120" y="1143000"/>
            <a:ext cx="4892040" cy="4480560"/>
          </a:xfrm>
          <a:prstGeom prst="roundRect">
            <a:avLst>
              <a:gd name="adj" fmla="val 3000"/>
            </a:avLst>
          </a:prstGeom>
          <a:solidFill>
            <a:srgbClr val="1B2045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821424" y="1261872"/>
            <a:ext cx="100584" cy="100584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976872" y="1261872"/>
            <a:ext cx="100584" cy="100584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7132320" y="1261872"/>
            <a:ext cx="100584" cy="100584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7360920" y="1207008"/>
            <a:ext cx="4023360" cy="219456"/>
          </a:xfrm>
          <a:prstGeom prst="roundRect">
            <a:avLst>
              <a:gd name="adj" fmla="val 40000"/>
            </a:avLst>
          </a:prstGeom>
          <a:solidFill>
            <a:srgbClr val="0E123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498080" y="1207008"/>
            <a:ext cx="379476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4A3B8"/>
                </a:solidFill>
                <a:latin typeface="Courier New"/>
              </a:rPr>
              <a:t>docesabor.com.br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66560" y="1527048"/>
            <a:ext cx="4709160" cy="4005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766560" y="1527048"/>
            <a:ext cx="4709160" cy="4005072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766560" y="1527048"/>
            <a:ext cx="4709160" cy="685800"/>
          </a:xfrm>
          <a:prstGeom prst="rect">
            <a:avLst/>
          </a:prstGeom>
          <a:solidFill>
            <a:srgbClr val="7C4A2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995160" y="1618488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Doce Sabor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09760" y="1618488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BCFE8"/>
                </a:solidFill>
                <a:latin typeface="Arial"/>
              </a:rPr>
              <a:t>Cardápio  Encomendas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995160" y="2395728"/>
            <a:ext cx="42519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BCFE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178040" y="2487168"/>
            <a:ext cx="38862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F2A1E"/>
                </a:solidFill>
                <a:latin typeface="Arial"/>
              </a:rPr>
              <a:t>Bolo do mês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78040" y="2852928"/>
            <a:ext cx="38862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4F3F"/>
                </a:solidFill>
                <a:latin typeface="Arial"/>
              </a:rPr>
              <a:t>Ninho com morango com </a:t>
            </a:r>
            <a:r>
              <a:rPr sz="1100" b="1" i="0">
                <a:solidFill>
                  <a:srgbClr val="6B4F3F"/>
                </a:solidFill>
                <a:latin typeface="Arial"/>
              </a:rPr>
              <a:t>20% de desconto</a:t>
            </a:r>
            <a:r>
              <a:rPr sz="1100" b="0" i="0">
                <a:solidFill>
                  <a:srgbClr val="6B4F3F"/>
                </a:solidFill>
                <a:latin typeface="Arial"/>
              </a:rPr>
              <a:t>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995160" y="3721608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BCFE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995160" y="3721608"/>
            <a:ext cx="205740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F2A1E"/>
                </a:solidFill>
                <a:latin typeface="Arial"/>
              </a:rPr>
              <a:t>► Vocês fazem entrega?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189720" y="3721608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EC489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189720" y="3721608"/>
            <a:ext cx="205740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Fazer pedido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766560" y="5029200"/>
            <a:ext cx="4709160" cy="502920"/>
          </a:xfrm>
          <a:prstGeom prst="rect">
            <a:avLst/>
          </a:prstGeom>
          <a:solidFill>
            <a:srgbClr val="3F2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766560" y="5029200"/>
            <a:ext cx="470916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F5E6DA"/>
                </a:solidFill>
                <a:latin typeface="Arial"/>
              </a:rPr>
              <a:t>© 2026 Doce Sabor • contato@docesabor.com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280"/>
                </a:solidFill>
                <a:latin typeface="Arial"/>
              </a:rPr>
              <a:t>Guia das tags HTML · Linguagem de Marcação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B1026"/>
            </a:gs>
            <a:gs pos="100000">
              <a:srgbClr val="1C1245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250">
                <a:solidFill>
                  <a:srgbClr val="C084FC"/>
                </a:solidFill>
                <a:latin typeface="Arial"/>
              </a:rPr>
              <a:t>ROTEIRO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8FAFC"/>
                </a:solidFill>
                <a:latin typeface="Arial"/>
              </a:rPr>
              <a:t>As tags em 6 grupos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280"/>
                </a:solidFill>
                <a:latin typeface="Arial"/>
              </a:rPr>
              <a:t>Guia das tags HTML · Linguagem de Marcação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280"/>
                </a:solidFill>
                <a:latin typeface="Arial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1737360" cy="4754880"/>
          </a:xfrm>
          <a:prstGeom prst="roundRect">
            <a:avLst>
              <a:gd name="adj" fmla="val 6000"/>
            </a:avLst>
          </a:prstGeom>
          <a:solidFill>
            <a:srgbClr val="11163A"/>
          </a:solidFill>
          <a:ln w="15875">
            <a:solidFill>
              <a:srgbClr val="818CF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600200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818CF8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057400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8FAFC"/>
                </a:solidFill>
                <a:latin typeface="Arial"/>
              </a:rPr>
              <a:t>Documento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743200"/>
            <a:ext cx="1463040" cy="329184"/>
          </a:xfrm>
          <a:prstGeom prst="roundRect">
            <a:avLst>
              <a:gd name="adj" fmla="val 30000"/>
            </a:avLst>
          </a:prstGeom>
          <a:solidFill>
            <a:srgbClr val="1E1B4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743200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18CF8"/>
                </a:solidFill>
                <a:latin typeface="Courier New"/>
              </a:rPr>
              <a:t>&lt;!DOCTYPE&gt;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200400"/>
            <a:ext cx="1463040" cy="329184"/>
          </a:xfrm>
          <a:prstGeom prst="roundRect">
            <a:avLst>
              <a:gd name="adj" fmla="val 30000"/>
            </a:avLst>
          </a:prstGeom>
          <a:solidFill>
            <a:srgbClr val="1E1B4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3200400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18CF8"/>
                </a:solidFill>
                <a:latin typeface="Courier New"/>
              </a:rPr>
              <a:t>&lt;html&gt;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657600"/>
            <a:ext cx="1463040" cy="329184"/>
          </a:xfrm>
          <a:prstGeom prst="roundRect">
            <a:avLst>
              <a:gd name="adj" fmla="val 30000"/>
            </a:avLst>
          </a:prstGeom>
          <a:solidFill>
            <a:srgbClr val="1E1B4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3657600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18CF8"/>
                </a:solidFill>
                <a:latin typeface="Courier New"/>
              </a:rPr>
              <a:t>&lt;head&gt;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114800"/>
            <a:ext cx="1463040" cy="329184"/>
          </a:xfrm>
          <a:prstGeom prst="roundRect">
            <a:avLst>
              <a:gd name="adj" fmla="val 30000"/>
            </a:avLst>
          </a:prstGeom>
          <a:solidFill>
            <a:srgbClr val="1E1B4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4114800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18CF8"/>
                </a:solidFill>
                <a:latin typeface="Courier New"/>
              </a:rPr>
              <a:t>&lt;meta&gt;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572000"/>
            <a:ext cx="1463040" cy="329184"/>
          </a:xfrm>
          <a:prstGeom prst="roundRect">
            <a:avLst>
              <a:gd name="adj" fmla="val 30000"/>
            </a:avLst>
          </a:prstGeom>
          <a:solidFill>
            <a:srgbClr val="1E1B4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4572000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18CF8"/>
                </a:solidFill>
                <a:latin typeface="Courier New"/>
              </a:rPr>
              <a:t>&lt;title&gt;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5029200"/>
            <a:ext cx="1463040" cy="329184"/>
          </a:xfrm>
          <a:prstGeom prst="roundRect">
            <a:avLst>
              <a:gd name="adj" fmla="val 30000"/>
            </a:avLst>
          </a:prstGeom>
          <a:solidFill>
            <a:srgbClr val="1E1B4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5029200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18CF8"/>
                </a:solidFill>
                <a:latin typeface="Courier New"/>
              </a:rPr>
              <a:t>&lt;link&gt;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486400"/>
            <a:ext cx="1463040" cy="329184"/>
          </a:xfrm>
          <a:prstGeom prst="roundRect">
            <a:avLst>
              <a:gd name="adj" fmla="val 30000"/>
            </a:avLst>
          </a:prstGeom>
          <a:solidFill>
            <a:srgbClr val="1E1B4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5486400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18CF8"/>
                </a:solidFill>
                <a:latin typeface="Courier New"/>
              </a:rPr>
              <a:t>&lt;body&gt;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14016" y="1417320"/>
            <a:ext cx="1737360" cy="4754880"/>
          </a:xfrm>
          <a:prstGeom prst="roundRect">
            <a:avLst>
              <a:gd name="adj" fmla="val 6000"/>
            </a:avLst>
          </a:prstGeom>
          <a:solidFill>
            <a:srgbClr val="11163A"/>
          </a:solidFill>
          <a:ln w="15875">
            <a:solidFill>
              <a:srgbClr val="34D39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578608" y="1600200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4D399"/>
                </a:solidFill>
                <a:latin typeface="Arial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78608" y="2057400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8FAFC"/>
                </a:solidFill>
                <a:latin typeface="Arial"/>
              </a:rPr>
              <a:t>Estrutura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551176" y="2743200"/>
            <a:ext cx="1463040" cy="329184"/>
          </a:xfrm>
          <a:prstGeom prst="roundRect">
            <a:avLst>
              <a:gd name="adj" fmla="val 30000"/>
            </a:avLst>
          </a:prstGeom>
          <a:solidFill>
            <a:srgbClr val="1E1B4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551176" y="2743200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4D399"/>
                </a:solidFill>
                <a:latin typeface="Courier New"/>
              </a:rPr>
              <a:t>&lt;header&gt;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551176" y="3200400"/>
            <a:ext cx="1463040" cy="329184"/>
          </a:xfrm>
          <a:prstGeom prst="roundRect">
            <a:avLst>
              <a:gd name="adj" fmla="val 30000"/>
            </a:avLst>
          </a:prstGeom>
          <a:solidFill>
            <a:srgbClr val="1E1B4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551176" y="3200400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4D399"/>
                </a:solidFill>
                <a:latin typeface="Courier New"/>
              </a:rPr>
              <a:t>&lt;main&gt;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551176" y="3657600"/>
            <a:ext cx="1463040" cy="329184"/>
          </a:xfrm>
          <a:prstGeom prst="roundRect">
            <a:avLst>
              <a:gd name="adj" fmla="val 30000"/>
            </a:avLst>
          </a:prstGeom>
          <a:solidFill>
            <a:srgbClr val="1E1B4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551176" y="3657600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4D399"/>
                </a:solidFill>
                <a:latin typeface="Courier New"/>
              </a:rPr>
              <a:t>&lt;article&gt;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51176" y="4114800"/>
            <a:ext cx="1463040" cy="329184"/>
          </a:xfrm>
          <a:prstGeom prst="roundRect">
            <a:avLst>
              <a:gd name="adj" fmla="val 30000"/>
            </a:avLst>
          </a:prstGeom>
          <a:solidFill>
            <a:srgbClr val="1E1B4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551176" y="4114800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4D399"/>
                </a:solidFill>
                <a:latin typeface="Courier New"/>
              </a:rPr>
              <a:t>&lt;section&gt;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551176" y="4572000"/>
            <a:ext cx="1463040" cy="329184"/>
          </a:xfrm>
          <a:prstGeom prst="roundRect">
            <a:avLst>
              <a:gd name="adj" fmla="val 30000"/>
            </a:avLst>
          </a:prstGeom>
          <a:solidFill>
            <a:srgbClr val="1E1B4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551176" y="4572000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4D399"/>
                </a:solidFill>
                <a:latin typeface="Courier New"/>
              </a:rPr>
              <a:t>&lt;footer&gt;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551176" y="5029200"/>
            <a:ext cx="1463040" cy="329184"/>
          </a:xfrm>
          <a:prstGeom prst="roundRect">
            <a:avLst>
              <a:gd name="adj" fmla="val 30000"/>
            </a:avLst>
          </a:prstGeom>
          <a:solidFill>
            <a:srgbClr val="1E1B4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551176" y="5029200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4D399"/>
                </a:solidFill>
                <a:latin typeface="Courier New"/>
              </a:rPr>
              <a:t>&lt;div&gt;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79392" y="1417320"/>
            <a:ext cx="1737360" cy="4754880"/>
          </a:xfrm>
          <a:prstGeom prst="roundRect">
            <a:avLst>
              <a:gd name="adj" fmla="val 6000"/>
            </a:avLst>
          </a:prstGeom>
          <a:solidFill>
            <a:srgbClr val="11163A"/>
          </a:solidFill>
          <a:ln w="15875">
            <a:solidFill>
              <a:srgbClr val="FBBF24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443984" y="1600200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BBF24"/>
                </a:solidFill>
                <a:latin typeface="Arial"/>
              </a:rPr>
              <a:t>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43984" y="2057400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8FAFC"/>
                </a:solidFill>
                <a:latin typeface="Arial"/>
              </a:rPr>
              <a:t>Texto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416552" y="2743200"/>
            <a:ext cx="1463040" cy="329184"/>
          </a:xfrm>
          <a:prstGeom prst="roundRect">
            <a:avLst>
              <a:gd name="adj" fmla="val 30000"/>
            </a:avLst>
          </a:prstGeom>
          <a:solidFill>
            <a:srgbClr val="1E1B4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416552" y="2743200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BBF24"/>
                </a:solidFill>
                <a:latin typeface="Courier New"/>
              </a:rPr>
              <a:t>&lt;h1&gt; &lt;h2&gt; &lt;h3&gt;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416552" y="3200400"/>
            <a:ext cx="1463040" cy="329184"/>
          </a:xfrm>
          <a:prstGeom prst="roundRect">
            <a:avLst>
              <a:gd name="adj" fmla="val 30000"/>
            </a:avLst>
          </a:prstGeom>
          <a:solidFill>
            <a:srgbClr val="1E1B4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416552" y="3200400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BBF24"/>
                </a:solidFill>
                <a:latin typeface="Courier New"/>
              </a:rPr>
              <a:t>&lt;p&gt;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416552" y="3657600"/>
            <a:ext cx="1463040" cy="329184"/>
          </a:xfrm>
          <a:prstGeom prst="roundRect">
            <a:avLst>
              <a:gd name="adj" fmla="val 30000"/>
            </a:avLst>
          </a:prstGeom>
          <a:solidFill>
            <a:srgbClr val="1E1B4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416552" y="3657600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BBF24"/>
                </a:solidFill>
                <a:latin typeface="Courier New"/>
              </a:rPr>
              <a:t>&lt;strong&gt; &lt;b&gt;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416552" y="4114800"/>
            <a:ext cx="1463040" cy="329184"/>
          </a:xfrm>
          <a:prstGeom prst="roundRect">
            <a:avLst>
              <a:gd name="adj" fmla="val 30000"/>
            </a:avLst>
          </a:prstGeom>
          <a:solidFill>
            <a:srgbClr val="1E1B4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416552" y="4114800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BBF24"/>
                </a:solidFill>
                <a:latin typeface="Courier New"/>
              </a:rPr>
              <a:t>&lt;em&gt; &lt;i&gt;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416552" y="4572000"/>
            <a:ext cx="1463040" cy="329184"/>
          </a:xfrm>
          <a:prstGeom prst="roundRect">
            <a:avLst>
              <a:gd name="adj" fmla="val 30000"/>
            </a:avLst>
          </a:prstGeom>
          <a:solidFill>
            <a:srgbClr val="1E1B4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416552" y="4572000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BBF24"/>
                </a:solidFill>
                <a:latin typeface="Courier New"/>
              </a:rPr>
              <a:t>&lt;time&gt;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44768" y="1417320"/>
            <a:ext cx="1737360" cy="4754880"/>
          </a:xfrm>
          <a:prstGeom prst="roundRect">
            <a:avLst>
              <a:gd name="adj" fmla="val 6000"/>
            </a:avLst>
          </a:prstGeom>
          <a:solidFill>
            <a:srgbClr val="11163A"/>
          </a:solidFill>
          <a:ln w="15875">
            <a:solidFill>
              <a:srgbClr val="60A5F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309360" y="1600200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60A5FA"/>
                </a:solidFill>
                <a:latin typeface="Arial"/>
              </a:rPr>
              <a:t>04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09360" y="2057400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8FAFC"/>
                </a:solidFill>
                <a:latin typeface="Arial"/>
              </a:rPr>
              <a:t>Links e contato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81928" y="2743200"/>
            <a:ext cx="1463040" cy="329184"/>
          </a:xfrm>
          <a:prstGeom prst="roundRect">
            <a:avLst>
              <a:gd name="adj" fmla="val 30000"/>
            </a:avLst>
          </a:prstGeom>
          <a:solidFill>
            <a:srgbClr val="1E1B4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281928" y="2743200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0A5FA"/>
                </a:solidFill>
                <a:latin typeface="Courier New"/>
              </a:rPr>
              <a:t>&lt;a href&gt;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81928" y="3200400"/>
            <a:ext cx="1463040" cy="329184"/>
          </a:xfrm>
          <a:prstGeom prst="roundRect">
            <a:avLst>
              <a:gd name="adj" fmla="val 30000"/>
            </a:avLst>
          </a:prstGeom>
          <a:solidFill>
            <a:srgbClr val="1E1B4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281928" y="3200400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0A5FA"/>
                </a:solidFill>
                <a:latin typeface="Courier New"/>
              </a:rPr>
              <a:t>mailto: tel: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81928" y="3657600"/>
            <a:ext cx="1463040" cy="329184"/>
          </a:xfrm>
          <a:prstGeom prst="roundRect">
            <a:avLst>
              <a:gd name="adj" fmla="val 30000"/>
            </a:avLst>
          </a:prstGeom>
          <a:solidFill>
            <a:srgbClr val="1E1B4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281928" y="3657600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0A5FA"/>
                </a:solidFill>
                <a:latin typeface="Courier New"/>
              </a:rPr>
              <a:t>&lt;footer&gt;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281928" y="4114800"/>
            <a:ext cx="1463040" cy="329184"/>
          </a:xfrm>
          <a:prstGeom prst="roundRect">
            <a:avLst>
              <a:gd name="adj" fmla="val 30000"/>
            </a:avLst>
          </a:prstGeom>
          <a:solidFill>
            <a:srgbClr val="1E1B4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281928" y="4114800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0A5FA"/>
                </a:solidFill>
                <a:latin typeface="Courier New"/>
              </a:rPr>
              <a:t>&lt;address&gt;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281928" y="4572000"/>
            <a:ext cx="1463040" cy="329184"/>
          </a:xfrm>
          <a:prstGeom prst="roundRect">
            <a:avLst>
              <a:gd name="adj" fmla="val 30000"/>
            </a:avLst>
          </a:prstGeom>
          <a:solidFill>
            <a:srgbClr val="1E1B4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281928" y="4572000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0A5FA"/>
                </a:solidFill>
                <a:latin typeface="Courier New"/>
              </a:rPr>
              <a:t>&amp;copy; &amp;bull;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010144" y="1417320"/>
            <a:ext cx="1737360" cy="4754880"/>
          </a:xfrm>
          <a:prstGeom prst="roundRect">
            <a:avLst>
              <a:gd name="adj" fmla="val 6000"/>
            </a:avLst>
          </a:prstGeom>
          <a:solidFill>
            <a:srgbClr val="11163A"/>
          </a:solidFill>
          <a:ln w="15875">
            <a:solidFill>
              <a:srgbClr val="F472B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174736" y="1600200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472B6"/>
                </a:solidFill>
                <a:latin typeface="Arial"/>
              </a:rPr>
              <a:t>05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174736" y="2057400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8FAFC"/>
                </a:solidFill>
                <a:latin typeface="Arial"/>
              </a:rPr>
              <a:t>Interação e mídia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147304" y="2743200"/>
            <a:ext cx="1463040" cy="329184"/>
          </a:xfrm>
          <a:prstGeom prst="roundRect">
            <a:avLst>
              <a:gd name="adj" fmla="val 30000"/>
            </a:avLst>
          </a:prstGeom>
          <a:solidFill>
            <a:srgbClr val="1E1B4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147304" y="2743200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472B6"/>
                </a:solidFill>
                <a:latin typeface="Courier New"/>
              </a:rPr>
              <a:t>&lt;details&gt;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147304" y="3200400"/>
            <a:ext cx="1463040" cy="329184"/>
          </a:xfrm>
          <a:prstGeom prst="roundRect">
            <a:avLst>
              <a:gd name="adj" fmla="val 30000"/>
            </a:avLst>
          </a:prstGeom>
          <a:solidFill>
            <a:srgbClr val="1E1B4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147304" y="3200400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472B6"/>
                </a:solidFill>
                <a:latin typeface="Courier New"/>
              </a:rPr>
              <a:t>&lt;summary&gt;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147304" y="3657600"/>
            <a:ext cx="1463040" cy="329184"/>
          </a:xfrm>
          <a:prstGeom prst="roundRect">
            <a:avLst>
              <a:gd name="adj" fmla="val 30000"/>
            </a:avLst>
          </a:prstGeom>
          <a:solidFill>
            <a:srgbClr val="1E1B4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147304" y="3657600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472B6"/>
                </a:solidFill>
                <a:latin typeface="Courier New"/>
              </a:rPr>
              <a:t>open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147304" y="4114800"/>
            <a:ext cx="1463040" cy="329184"/>
          </a:xfrm>
          <a:prstGeom prst="roundRect">
            <a:avLst>
              <a:gd name="adj" fmla="val 30000"/>
            </a:avLst>
          </a:prstGeom>
          <a:solidFill>
            <a:srgbClr val="1E1B4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147304" y="4114800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472B6"/>
                </a:solidFill>
                <a:latin typeface="Courier New"/>
              </a:rPr>
              <a:t>&lt;section&gt;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147304" y="4572000"/>
            <a:ext cx="1463040" cy="329184"/>
          </a:xfrm>
          <a:prstGeom prst="roundRect">
            <a:avLst>
              <a:gd name="adj" fmla="val 30000"/>
            </a:avLst>
          </a:prstGeom>
          <a:solidFill>
            <a:srgbClr val="1E1B4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8147304" y="4572000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472B6"/>
                </a:solidFill>
                <a:latin typeface="Courier New"/>
              </a:rPr>
              <a:t>&lt;iframe&gt;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875520" y="1417320"/>
            <a:ext cx="1737360" cy="4754880"/>
          </a:xfrm>
          <a:prstGeom prst="roundRect">
            <a:avLst>
              <a:gd name="adj" fmla="val 6000"/>
            </a:avLst>
          </a:prstGeom>
          <a:solidFill>
            <a:srgbClr val="11163A"/>
          </a:solidFill>
          <a:ln w="15875">
            <a:solidFill>
              <a:srgbClr val="FB923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0040112" y="1600200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B923C"/>
                </a:solidFill>
                <a:latin typeface="Arial"/>
              </a:rPr>
              <a:t>06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040112" y="2057400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8FAFC"/>
                </a:solidFill>
                <a:latin typeface="Arial"/>
              </a:rPr>
              <a:t>Formulários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0012680" y="2743200"/>
            <a:ext cx="1463040" cy="329184"/>
          </a:xfrm>
          <a:prstGeom prst="roundRect">
            <a:avLst>
              <a:gd name="adj" fmla="val 30000"/>
            </a:avLst>
          </a:prstGeom>
          <a:solidFill>
            <a:srgbClr val="1E1B4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10012680" y="2743200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B923C"/>
                </a:solidFill>
                <a:latin typeface="Courier New"/>
              </a:rPr>
              <a:t>&lt;form&gt;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0012680" y="3200400"/>
            <a:ext cx="1463040" cy="329184"/>
          </a:xfrm>
          <a:prstGeom prst="roundRect">
            <a:avLst>
              <a:gd name="adj" fmla="val 30000"/>
            </a:avLst>
          </a:prstGeom>
          <a:solidFill>
            <a:srgbClr val="1E1B4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10012680" y="3200400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B923C"/>
                </a:solidFill>
                <a:latin typeface="Courier New"/>
              </a:rPr>
              <a:t>&lt;label&gt;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0012680" y="3657600"/>
            <a:ext cx="1463040" cy="329184"/>
          </a:xfrm>
          <a:prstGeom prst="roundRect">
            <a:avLst>
              <a:gd name="adj" fmla="val 30000"/>
            </a:avLst>
          </a:prstGeom>
          <a:solidFill>
            <a:srgbClr val="1E1B4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10012680" y="3657600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B923C"/>
                </a:solidFill>
                <a:latin typeface="Courier New"/>
              </a:rPr>
              <a:t>&lt;input&gt;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10012680" y="4114800"/>
            <a:ext cx="1463040" cy="329184"/>
          </a:xfrm>
          <a:prstGeom prst="roundRect">
            <a:avLst>
              <a:gd name="adj" fmla="val 30000"/>
            </a:avLst>
          </a:prstGeom>
          <a:solidFill>
            <a:srgbClr val="1E1B4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10012680" y="4114800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B923C"/>
                </a:solidFill>
                <a:latin typeface="Courier New"/>
              </a:rPr>
              <a:t>date radio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0012680" y="4572000"/>
            <a:ext cx="1463040" cy="329184"/>
          </a:xfrm>
          <a:prstGeom prst="roundRect">
            <a:avLst>
              <a:gd name="adj" fmla="val 30000"/>
            </a:avLst>
          </a:prstGeom>
          <a:solidFill>
            <a:srgbClr val="1E1B4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10012680" y="4572000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B923C"/>
                </a:solidFill>
                <a:latin typeface="Courier New"/>
              </a:rPr>
              <a:t>&lt;select&gt;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0012680" y="5029200"/>
            <a:ext cx="1463040" cy="329184"/>
          </a:xfrm>
          <a:prstGeom prst="roundRect">
            <a:avLst>
              <a:gd name="adj" fmla="val 30000"/>
            </a:avLst>
          </a:prstGeom>
          <a:solidFill>
            <a:srgbClr val="1E1B4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10012680" y="5029200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B923C"/>
                </a:solidFill>
                <a:latin typeface="Courier New"/>
              </a:rPr>
              <a:t>&lt;textarea&gt;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10012680" y="5486400"/>
            <a:ext cx="1463040" cy="329184"/>
          </a:xfrm>
          <a:prstGeom prst="roundRect">
            <a:avLst>
              <a:gd name="adj" fmla="val 30000"/>
            </a:avLst>
          </a:prstGeom>
          <a:solidFill>
            <a:srgbClr val="1E1B4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10012680" y="5486400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B923C"/>
                </a:solidFill>
                <a:latin typeface="Courier New"/>
              </a:rPr>
              <a:t>&lt;button&gt;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7" dur="4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0" dur="4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4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8" dur="4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1" dur="4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4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7" dur="4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0" dur="4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3" dur="4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6" dur="4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9" dur="4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2" dur="4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5" dur="4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8" dur="4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1" dur="4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4" dur="4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9" dur="4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2" dur="4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5" dur="4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8" dur="4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1" dur="4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4" dur="4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7" dur="4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0" dur="4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3" dur="4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6" dur="4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9" dur="4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2" dur="4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5" dur="4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0" dur="4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3" dur="4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6" dur="4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9" dur="4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2" dur="4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5" dur="4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8" dur="45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1" dur="4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4" dur="4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7" dur="4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0" dur="4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3" dur="45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6" dur="4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9" dur="45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2" dur="45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5" dur="45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8" dur="45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B1026"/>
            </a:gs>
            <a:gs pos="100000">
              <a:srgbClr val="1C1245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250">
                <a:solidFill>
                  <a:srgbClr val="C084FC"/>
                </a:solidFill>
                <a:latin typeface="Arial"/>
              </a:rPr>
              <a:t>ANTES DE TUDO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8FAFC"/>
                </a:solidFill>
                <a:latin typeface="Arial"/>
              </a:rPr>
              <a:t>Como uma tag funciona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280"/>
                </a:solidFill>
                <a:latin typeface="Arial"/>
              </a:rPr>
              <a:t>Guia das tags HTML · Linguagem de Marcação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280"/>
                </a:solidFill>
                <a:latin typeface="Arial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59128" y="2679192"/>
            <a:ext cx="8473440" cy="676656"/>
          </a:xfrm>
          <a:prstGeom prst="roundRect">
            <a:avLst>
              <a:gd name="adj" fmla="val 15000"/>
            </a:avLst>
          </a:prstGeom>
          <a:solidFill>
            <a:srgbClr val="0E1230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133448" y="2788920"/>
            <a:ext cx="8107680" cy="4572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F472B6"/>
                </a:solidFill>
                <a:latin typeface="Courier New"/>
              </a:rPr>
              <a:t>&lt;a</a:t>
            </a:r>
            <a:r>
              <a:rPr sz="2600" b="0" i="0">
                <a:solidFill>
                  <a:srgbClr val="E5E7EB"/>
                </a:solidFill>
                <a:latin typeface="Courier New"/>
              </a:rPr>
              <a:t> </a:t>
            </a:r>
            <a:r>
              <a:rPr sz="2600" b="0" i="0">
                <a:solidFill>
                  <a:srgbClr val="FBBF24"/>
                </a:solidFill>
                <a:latin typeface="Courier New"/>
              </a:rPr>
              <a:t>href</a:t>
            </a:r>
            <a:r>
              <a:rPr sz="2600" b="0" i="0">
                <a:solidFill>
                  <a:srgbClr val="E5E7EB"/>
                </a:solidFill>
                <a:latin typeface="Courier New"/>
              </a:rPr>
              <a:t>=</a:t>
            </a:r>
            <a:r>
              <a:rPr sz="2600" b="0" i="0">
                <a:solidFill>
                  <a:srgbClr val="34D399"/>
                </a:solidFill>
                <a:latin typeface="Courier New"/>
              </a:rPr>
              <a:t>"cardapio.html"</a:t>
            </a:r>
            <a:r>
              <a:rPr sz="2600" b="0" i="0">
                <a:solidFill>
                  <a:srgbClr val="F472B6"/>
                </a:solidFill>
                <a:latin typeface="Courier New"/>
              </a:rPr>
              <a:t>&gt;</a:t>
            </a:r>
            <a:r>
              <a:rPr sz="2600" b="0" i="0">
                <a:solidFill>
                  <a:srgbClr val="E5E7EB"/>
                </a:solidFill>
                <a:latin typeface="Courier New"/>
              </a:rPr>
              <a:t>Ver cardápio</a:t>
            </a:r>
            <a:r>
              <a:rPr sz="2600" b="0" i="0">
                <a:solidFill>
                  <a:srgbClr val="F472B6"/>
                </a:solidFill>
                <a:latin typeface="Courier New"/>
              </a:rPr>
              <a:t>&lt;/a&gt;</a:t>
            </a:r>
          </a:p>
        </p:txBody>
      </p:sp>
      <p:sp>
        <p:nvSpPr>
          <p:cNvPr id="8" name="Rectangle 7"/>
          <p:cNvSpPr/>
          <p:nvPr/>
        </p:nvSpPr>
        <p:spPr>
          <a:xfrm>
            <a:off x="2133448" y="3337560"/>
            <a:ext cx="4754880" cy="4572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01744" y="3383280"/>
            <a:ext cx="18288" cy="64008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90648" y="3447288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472B6"/>
                </a:solidFill>
                <a:latin typeface="Arial"/>
              </a:rPr>
              <a:t>Tag de abertura: começa com &lt; e termina com 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27808" y="2633472"/>
            <a:ext cx="792480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0928" y="1627632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BBF24"/>
                </a:solidFill>
                <a:latin typeface="Arial"/>
              </a:rPr>
              <a:t>Atributo: uma configuração da tag. href = para onde o link leva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14904" y="2084832"/>
            <a:ext cx="18288" cy="5486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718408" y="2633472"/>
            <a:ext cx="2971800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58388" y="219456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rial"/>
              </a:rPr>
              <a:t>Valor do atributo: sempre entre aspas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95164" y="2651760"/>
            <a:ext cx="18288" cy="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88328" y="3337560"/>
            <a:ext cx="2377440" cy="457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67904" y="3383280"/>
            <a:ext cx="18288" cy="63093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22568" y="4014216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8FAFC"/>
                </a:solidFill>
                <a:latin typeface="Arial"/>
              </a:rPr>
              <a:t>Conteúdo: o que aparece na tela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65768" y="3337560"/>
            <a:ext cx="792480" cy="457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652864" y="3383280"/>
            <a:ext cx="18288" cy="6400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53248" y="3447288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0A5FA"/>
                </a:solidFill>
                <a:latin typeface="Arial"/>
              </a:rPr>
              <a:t>Fechamento: igual à abertura, com uma barra /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983480"/>
            <a:ext cx="4937760" cy="1234440"/>
          </a:xfrm>
          <a:prstGeom prst="roundRect">
            <a:avLst>
              <a:gd name="adj" fmla="val 8000"/>
            </a:avLst>
          </a:prstGeom>
          <a:solidFill>
            <a:srgbClr val="11163A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5840" y="507492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200">
                <a:solidFill>
                  <a:srgbClr val="C084FC"/>
                </a:solidFill>
                <a:latin typeface="Arial"/>
              </a:rPr>
              <a:t>NO NAVEGADOR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5840" y="5394960"/>
            <a:ext cx="4572000" cy="640080"/>
          </a:xfrm>
          <a:prstGeom prst="roundRect">
            <a:avLst>
              <a:gd name="adj" fmla="val 10000"/>
            </a:avLst>
          </a:prstGeom>
          <a:solidFill>
            <a:srgbClr val="FFF7E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88720" y="5394960"/>
            <a:ext cx="420624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 u="sng">
                <a:solidFill>
                  <a:srgbClr val="BE185D"/>
                </a:solidFill>
                <a:latin typeface="Arial"/>
              </a:rPr>
              <a:t>Ver cardápio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539496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4F3F"/>
                </a:solidFill>
                <a:latin typeface="Arial"/>
              </a:rPr>
              <a:t>clique e abre cardapio.html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4983480"/>
            <a:ext cx="5120640" cy="1234440"/>
          </a:xfrm>
          <a:prstGeom prst="roundRect">
            <a:avLst>
              <a:gd name="adj" fmla="val 8000"/>
            </a:avLst>
          </a:prstGeom>
          <a:solidFill>
            <a:srgbClr val="11163A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92240" y="507492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200">
                <a:solidFill>
                  <a:srgbClr val="C084FC"/>
                </a:solidFill>
                <a:latin typeface="Arial"/>
              </a:rPr>
              <a:t>TAGS VAZIAS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534924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472B6"/>
                </a:solidFill>
                <a:latin typeface="Courier New"/>
              </a:rPr>
              <a:t>&lt;meta</a:t>
            </a:r>
            <a:r>
              <a:rPr sz="1100" b="0" i="0">
                <a:solidFill>
                  <a:srgbClr val="E5E7EB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FBBF24"/>
                </a:solidFill>
                <a:latin typeface="Courier New"/>
              </a:rPr>
              <a:t>charset</a:t>
            </a:r>
            <a:r>
              <a:rPr sz="1100" b="0" i="0">
                <a:solidFill>
                  <a:srgbClr val="E5E7EB"/>
                </a:solidFill>
                <a:latin typeface="Courier New"/>
              </a:rPr>
              <a:t>=</a:t>
            </a:r>
            <a:r>
              <a:rPr sz="1100" b="0" i="0">
                <a:solidFill>
                  <a:srgbClr val="34D399"/>
                </a:solidFill>
                <a:latin typeface="Courier New"/>
              </a:rPr>
              <a:t>"UTF-8"</a:t>
            </a:r>
            <a:r>
              <a:rPr sz="1100" b="0" i="0">
                <a:solidFill>
                  <a:srgbClr val="F472B6"/>
                </a:solidFill>
                <a:latin typeface="Courier New"/>
              </a:rPr>
              <a:t>&gt;</a:t>
            </a:r>
            <a:r>
              <a:rPr sz="1100" b="0" i="0">
                <a:solidFill>
                  <a:srgbClr val="E5E7EB"/>
                </a:solidFill>
                <a:latin typeface="Courier New"/>
              </a:rPr>
              <a:t>  </a:t>
            </a:r>
            <a:r>
              <a:rPr sz="1100" b="0" i="0">
                <a:solidFill>
                  <a:srgbClr val="F472B6"/>
                </a:solidFill>
                <a:latin typeface="Courier New"/>
              </a:rPr>
              <a:t>&lt;input</a:t>
            </a:r>
            <a:r>
              <a:rPr sz="1100" b="0" i="0">
                <a:solidFill>
                  <a:srgbClr val="E5E7EB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FBBF24"/>
                </a:solidFill>
                <a:latin typeface="Courier New"/>
              </a:rPr>
              <a:t>type</a:t>
            </a:r>
            <a:r>
              <a:rPr sz="1100" b="0" i="0">
                <a:solidFill>
                  <a:srgbClr val="E5E7EB"/>
                </a:solidFill>
                <a:latin typeface="Courier New"/>
              </a:rPr>
              <a:t>=</a:t>
            </a:r>
            <a:r>
              <a:rPr sz="1100" b="0" i="0">
                <a:solidFill>
                  <a:srgbClr val="34D399"/>
                </a:solidFill>
                <a:latin typeface="Courier New"/>
              </a:rPr>
              <a:t>"email"</a:t>
            </a:r>
            <a:r>
              <a:rPr sz="1100" b="0" i="0">
                <a:solidFill>
                  <a:srgbClr val="F472B6"/>
                </a:solidFill>
                <a:latin typeface="Courier New"/>
              </a:rPr>
              <a:t>&gt;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5669280"/>
            <a:ext cx="484632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Arial"/>
              </a:rPr>
              <a:t>Algumas tags não têm conteúdo, então não têm fechamento.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B1026"/>
            </a:gs>
            <a:gs pos="100000">
              <a:srgbClr val="1C1245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250">
                <a:solidFill>
                  <a:srgbClr val="C084FC"/>
                </a:solidFill>
                <a:latin typeface="Arial"/>
              </a:rPr>
              <a:t>01 · DOCUMENTO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8FAFC"/>
                </a:solidFill>
                <a:latin typeface="Arial"/>
              </a:rPr>
              <a:t>&lt;!DOCTYPE&gt;, &lt;html&gt; e &lt;head&gt;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280"/>
                </a:solidFill>
                <a:latin typeface="Arial"/>
              </a:rPr>
              <a:t>Guia das tags HTML · Linguagem de Marcação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280"/>
                </a:solidFill>
                <a:latin typeface="Arial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25880"/>
            <a:ext cx="5623560" cy="1845564"/>
          </a:xfrm>
          <a:prstGeom prst="roundRect">
            <a:avLst>
              <a:gd name="adj" fmla="val 4000"/>
            </a:avLst>
          </a:prstGeom>
          <a:solidFill>
            <a:srgbClr val="0E1230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57784" y="1444752"/>
            <a:ext cx="100584" cy="100584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13232" y="1444752"/>
            <a:ext cx="100584" cy="100584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68680" y="1444752"/>
            <a:ext cx="100584" cy="100584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1380744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4A3B8"/>
                </a:solidFill>
                <a:latin typeface="Courier New"/>
              </a:rPr>
              <a:t>index.html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" y="1673352"/>
            <a:ext cx="5440680" cy="13792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472B6"/>
                </a:solidFill>
                <a:latin typeface="Courier New"/>
              </a:rPr>
              <a:t>&lt;!DOCTYPE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FBBF24"/>
                </a:solidFill>
                <a:latin typeface="Courier New"/>
              </a:rPr>
              <a:t>html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&gt;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472B6"/>
                </a:solidFill>
                <a:latin typeface="Courier New"/>
              </a:rPr>
              <a:t>&lt;html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FBBF24"/>
                </a:solidFill>
                <a:latin typeface="Courier New"/>
              </a:rPr>
              <a:t>lang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=</a:t>
            </a:r>
            <a:r>
              <a:rPr sz="1050" b="0" i="0">
                <a:solidFill>
                  <a:srgbClr val="34D399"/>
                </a:solidFill>
                <a:latin typeface="Courier New"/>
              </a:rPr>
              <a:t>"pt-br"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&gt;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472B6"/>
                </a:solidFill>
                <a:latin typeface="Courier New"/>
              </a:rPr>
              <a:t>&lt;head&gt;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Courier New"/>
              </a:rPr>
              <a:t>  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&lt;meta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FBBF24"/>
                </a:solidFill>
                <a:latin typeface="Courier New"/>
              </a:rPr>
              <a:t>charset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=</a:t>
            </a:r>
            <a:r>
              <a:rPr sz="1050" b="0" i="0">
                <a:solidFill>
                  <a:srgbClr val="34D399"/>
                </a:solidFill>
                <a:latin typeface="Courier New"/>
              </a:rPr>
              <a:t>"UTF-8"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&gt;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Courier New"/>
              </a:rPr>
              <a:t>  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&lt;meta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FBBF24"/>
                </a:solidFill>
                <a:latin typeface="Courier New"/>
              </a:rPr>
              <a:t>name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=</a:t>
            </a:r>
            <a:r>
              <a:rPr sz="1050" b="0" i="0">
                <a:solidFill>
                  <a:srgbClr val="34D399"/>
                </a:solidFill>
                <a:latin typeface="Courier New"/>
              </a:rPr>
              <a:t>"viewport"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Courier New"/>
              </a:rPr>
              <a:t>        </a:t>
            </a:r>
            <a:r>
              <a:rPr sz="1050" b="0" i="0">
                <a:solidFill>
                  <a:srgbClr val="FBBF24"/>
                </a:solidFill>
                <a:latin typeface="Courier New"/>
              </a:rPr>
              <a:t>content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=</a:t>
            </a:r>
            <a:r>
              <a:rPr sz="1050" b="0" i="0">
                <a:solidFill>
                  <a:srgbClr val="34D399"/>
                </a:solidFill>
                <a:latin typeface="Courier New"/>
              </a:rPr>
              <a:t>"width=device-width, initial-scale=1.0"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&gt;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472B6"/>
                </a:solidFill>
                <a:latin typeface="Courier New"/>
              </a:rPr>
              <a:t>&lt;/head&gt;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325880"/>
            <a:ext cx="5532120" cy="4937760"/>
          </a:xfrm>
          <a:prstGeom prst="roundRect">
            <a:avLst>
              <a:gd name="adj" fmla="val 3000"/>
            </a:avLst>
          </a:prstGeom>
          <a:solidFill>
            <a:srgbClr val="1B2045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09944" y="1444752"/>
            <a:ext cx="100584" cy="100584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565392" y="1444752"/>
            <a:ext cx="100584" cy="100584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720840" y="1444752"/>
            <a:ext cx="100584" cy="100584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949440" y="1389888"/>
            <a:ext cx="4663440" cy="219456"/>
          </a:xfrm>
          <a:prstGeom prst="roundRect">
            <a:avLst>
              <a:gd name="adj" fmla="val 40000"/>
            </a:avLst>
          </a:prstGeom>
          <a:solidFill>
            <a:srgbClr val="0E123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86600" y="1389888"/>
            <a:ext cx="443484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4A3B8"/>
                </a:solidFill>
                <a:latin typeface="Courier New"/>
              </a:rPr>
              <a:t>docesabor.com.br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1709928"/>
            <a:ext cx="5349240" cy="4462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629400" y="1938528"/>
            <a:ext cx="1371600" cy="548640"/>
          </a:xfrm>
          <a:prstGeom prst="roundRect">
            <a:avLst>
              <a:gd name="adj" fmla="val 20000"/>
            </a:avLst>
          </a:prstGeom>
          <a:solidFill>
            <a:srgbClr val="FFF7ED"/>
          </a:solidFill>
          <a:ln w="12700">
            <a:solidFill>
              <a:srgbClr val="EC489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29400" y="1938528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BE185D"/>
                </a:solidFill>
                <a:latin typeface="Arial"/>
              </a:rPr>
              <a:t>HTML5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1938528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937"/>
                </a:solidFill>
                <a:latin typeface="Arial"/>
              </a:rPr>
              <a:t>O navegador sabe que é uma página HTML5.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1668780"/>
            <a:ext cx="5495544" cy="199644"/>
          </a:xfrm>
          <a:prstGeom prst="roundRect">
            <a:avLst>
              <a:gd name="adj" fmla="val 8000"/>
            </a:avLst>
          </a:prstGeom>
          <a:solidFill>
            <a:srgbClr val="6366F1">
              <a:alpha val="26000"/>
            </a:srgbClr>
          </a:solidFill>
          <a:ln w="9525">
            <a:solidFill>
              <a:srgbClr val="818CF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11480" y="3299460"/>
            <a:ext cx="5623560" cy="475488"/>
          </a:xfrm>
          <a:prstGeom prst="roundRect">
            <a:avLst>
              <a:gd name="adj" fmla="val 12000"/>
            </a:avLst>
          </a:prstGeom>
          <a:solidFill>
            <a:srgbClr val="11163A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84632" y="3372612"/>
            <a:ext cx="1600200" cy="329184"/>
          </a:xfrm>
          <a:prstGeom prst="roundRect">
            <a:avLst>
              <a:gd name="adj" fmla="val 20000"/>
            </a:avLst>
          </a:prstGeom>
          <a:solidFill>
            <a:srgbClr val="1E1B4B"/>
          </a:solidFill>
          <a:ln w="9525">
            <a:solidFill>
              <a:srgbClr val="6366F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4632" y="3372612"/>
            <a:ext cx="160020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2B6"/>
                </a:solidFill>
                <a:latin typeface="Courier New"/>
              </a:rPr>
              <a:t>&lt;!DOCTYPE&gt;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3299460"/>
            <a:ext cx="3767328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Arial"/>
              </a:rPr>
              <a:t>Avisa ao navegador: esta página é HTML5. É sempre a primeira linha.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29400" y="2670048"/>
            <a:ext cx="4800600" cy="457200"/>
          </a:xfrm>
          <a:prstGeom prst="roundRect">
            <a:avLst>
              <a:gd name="adj" fmla="val 20000"/>
            </a:avLst>
          </a:prstGeom>
          <a:solidFill>
            <a:srgbClr val="EEF2FF"/>
          </a:solidFill>
          <a:ln w="12700">
            <a:solidFill>
              <a:srgbClr val="6366F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720840" y="2670048"/>
            <a:ext cx="46177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12E81"/>
                </a:solidFill>
                <a:latin typeface="Arial"/>
              </a:rPr>
              <a:t>Leitor de tela: "vou ler em português"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5488" y="1859280"/>
            <a:ext cx="5495544" cy="199644"/>
          </a:xfrm>
          <a:prstGeom prst="roundRect">
            <a:avLst>
              <a:gd name="adj" fmla="val 8000"/>
            </a:avLst>
          </a:prstGeom>
          <a:solidFill>
            <a:srgbClr val="6366F1">
              <a:alpha val="26000"/>
            </a:srgbClr>
          </a:solidFill>
          <a:ln w="9525">
            <a:solidFill>
              <a:srgbClr val="818CF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411480" y="3848100"/>
            <a:ext cx="5623560" cy="475488"/>
          </a:xfrm>
          <a:prstGeom prst="roundRect">
            <a:avLst>
              <a:gd name="adj" fmla="val 12000"/>
            </a:avLst>
          </a:prstGeom>
          <a:solidFill>
            <a:srgbClr val="11163A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484632" y="3921252"/>
            <a:ext cx="1600200" cy="329184"/>
          </a:xfrm>
          <a:prstGeom prst="roundRect">
            <a:avLst>
              <a:gd name="adj" fmla="val 20000"/>
            </a:avLst>
          </a:prstGeom>
          <a:solidFill>
            <a:srgbClr val="1E1B4B"/>
          </a:solidFill>
          <a:ln w="9525">
            <a:solidFill>
              <a:srgbClr val="6366F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4632" y="3921252"/>
            <a:ext cx="160020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2B6"/>
                </a:solidFill>
                <a:latin typeface="Courier New"/>
              </a:rPr>
              <a:t>lang="pt-br"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94560" y="3848100"/>
            <a:ext cx="3767328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Arial"/>
              </a:rPr>
              <a:t>Diz o idioma da página. Sem ele, o leitor de tela pode ler com sotaque de inglês.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29400" y="3310128"/>
            <a:ext cx="4800600" cy="411480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29400" y="3310128"/>
            <a:ext cx="480060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B5563"/>
                </a:solidFill>
                <a:latin typeface="Arial"/>
              </a:rPr>
              <a:t>&lt;head&gt; = bastidores: nada daqui aparece dentro da página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5488" y="2049780"/>
            <a:ext cx="5495544" cy="961644"/>
          </a:xfrm>
          <a:prstGeom prst="roundRect">
            <a:avLst>
              <a:gd name="adj" fmla="val 8000"/>
            </a:avLst>
          </a:prstGeom>
          <a:solidFill>
            <a:srgbClr val="6366F1">
              <a:alpha val="26000"/>
            </a:srgbClr>
          </a:solidFill>
          <a:ln w="9525">
            <a:solidFill>
              <a:srgbClr val="818CF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411480" y="4396740"/>
            <a:ext cx="5623560" cy="475488"/>
          </a:xfrm>
          <a:prstGeom prst="roundRect">
            <a:avLst>
              <a:gd name="adj" fmla="val 12000"/>
            </a:avLst>
          </a:prstGeom>
          <a:solidFill>
            <a:srgbClr val="11163A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484632" y="4469892"/>
            <a:ext cx="1600200" cy="329184"/>
          </a:xfrm>
          <a:prstGeom prst="roundRect">
            <a:avLst>
              <a:gd name="adj" fmla="val 20000"/>
            </a:avLst>
          </a:prstGeom>
          <a:solidFill>
            <a:srgbClr val="1E1B4B"/>
          </a:solidFill>
          <a:ln w="9525">
            <a:solidFill>
              <a:srgbClr val="6366F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84632" y="4469892"/>
            <a:ext cx="160020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2B6"/>
                </a:solidFill>
                <a:latin typeface="Courier New"/>
              </a:rPr>
              <a:t>&lt;head&gt;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94560" y="4396740"/>
            <a:ext cx="3767328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Arial"/>
              </a:rPr>
              <a:t>Os bastidores: informações para o navegador. Não aparece dentro da página.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3794760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C2626"/>
                </a:solidFill>
                <a:latin typeface="Arial"/>
              </a:rPr>
              <a:t>sem charset:  </a:t>
            </a:r>
            <a:r>
              <a:rPr sz="1100" b="0" i="0" strike="sngStrike">
                <a:solidFill>
                  <a:srgbClr val="DC2626"/>
                </a:solidFill>
                <a:latin typeface="Arial"/>
              </a:rPr>
              <a:t>PromoÃ§Ã£o de Bolos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29400" y="4069080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A34A"/>
                </a:solidFill>
                <a:latin typeface="Arial"/>
              </a:rPr>
              <a:t>com UTF-8:  </a:t>
            </a:r>
            <a:r>
              <a:rPr sz="1100" b="0" i="0">
                <a:solidFill>
                  <a:srgbClr val="1F2937"/>
                </a:solidFill>
                <a:latin typeface="Arial"/>
              </a:rPr>
              <a:t>Promoção de Bolos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5488" y="2240280"/>
            <a:ext cx="5495544" cy="199644"/>
          </a:xfrm>
          <a:prstGeom prst="roundRect">
            <a:avLst>
              <a:gd name="adj" fmla="val 8000"/>
            </a:avLst>
          </a:prstGeom>
          <a:solidFill>
            <a:srgbClr val="6366F1">
              <a:alpha val="26000"/>
            </a:srgbClr>
          </a:solidFill>
          <a:ln w="9525">
            <a:solidFill>
              <a:srgbClr val="818CF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411480" y="4945380"/>
            <a:ext cx="5623560" cy="475488"/>
          </a:xfrm>
          <a:prstGeom prst="roundRect">
            <a:avLst>
              <a:gd name="adj" fmla="val 12000"/>
            </a:avLst>
          </a:prstGeom>
          <a:solidFill>
            <a:srgbClr val="11163A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484632" y="5018532"/>
            <a:ext cx="1600200" cy="329184"/>
          </a:xfrm>
          <a:prstGeom prst="roundRect">
            <a:avLst>
              <a:gd name="adj" fmla="val 20000"/>
            </a:avLst>
          </a:prstGeom>
          <a:solidFill>
            <a:srgbClr val="1E1B4B"/>
          </a:solidFill>
          <a:ln w="9525">
            <a:solidFill>
              <a:srgbClr val="6366F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84632" y="5018532"/>
            <a:ext cx="160020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2B6"/>
                </a:solidFill>
                <a:latin typeface="Courier New"/>
              </a:rPr>
              <a:t>&lt;meta charset&gt;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94560" y="4945380"/>
            <a:ext cx="3767328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Arial"/>
              </a:rPr>
              <a:t>UTF-8 é a tabela de letras com acento. Sem ela, "Promoção" vira "PromoÃ§Ã£o".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178040" y="4407408"/>
            <a:ext cx="1051560" cy="1463040"/>
          </a:xfrm>
          <a:prstGeom prst="roundRect">
            <a:avLst>
              <a:gd name="adj" fmla="val 12000"/>
            </a:avLst>
          </a:prstGeom>
          <a:solidFill>
            <a:srgbClr val="11182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7242048" y="4498848"/>
            <a:ext cx="923544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269480" y="4544568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" b="0" i="0">
                <a:solidFill>
                  <a:srgbClr val="1F2937"/>
                </a:solidFill>
                <a:latin typeface="Arial"/>
              </a:rPr>
              <a:t>Doce Sabor  Cardápio  Encomendas  Bolo do mês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269480" y="4681728"/>
            <a:ext cx="548640" cy="18288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7269480" y="4736592"/>
            <a:ext cx="548640" cy="18288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7269480" y="4791456"/>
            <a:ext cx="548640" cy="18288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7269480" y="4846320"/>
            <a:ext cx="548640" cy="18288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7269480" y="4901184"/>
            <a:ext cx="548640" cy="18288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9464040" y="4407408"/>
            <a:ext cx="1051560" cy="1463040"/>
          </a:xfrm>
          <a:prstGeom prst="roundRect">
            <a:avLst>
              <a:gd name="adj" fmla="val 12000"/>
            </a:avLst>
          </a:prstGeom>
          <a:solidFill>
            <a:srgbClr val="11182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9528048" y="4498848"/>
            <a:ext cx="923544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555480" y="4544568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C4A2D"/>
                </a:solidFill>
                <a:latin typeface="Arial"/>
              </a:rPr>
              <a:t>Doce Sabor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55480" y="4818888"/>
            <a:ext cx="86868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1F2937"/>
                </a:solidFill>
                <a:latin typeface="Arial"/>
              </a:rPr>
              <a:t>Bolos, doces e salgados feitos com carinho.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12280" y="589788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C2626"/>
                </a:solidFill>
                <a:latin typeface="Arial"/>
              </a:rPr>
              <a:t>sem viewport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98280" y="589788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A34A"/>
                </a:solidFill>
                <a:latin typeface="Arial"/>
              </a:rPr>
              <a:t>com viewport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75488" y="2430780"/>
            <a:ext cx="5495544" cy="390144"/>
          </a:xfrm>
          <a:prstGeom prst="roundRect">
            <a:avLst>
              <a:gd name="adj" fmla="val 8000"/>
            </a:avLst>
          </a:prstGeom>
          <a:solidFill>
            <a:srgbClr val="6366F1">
              <a:alpha val="26000"/>
            </a:srgbClr>
          </a:solidFill>
          <a:ln w="9525">
            <a:solidFill>
              <a:srgbClr val="818CF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411480" y="5494020"/>
            <a:ext cx="5623560" cy="475488"/>
          </a:xfrm>
          <a:prstGeom prst="roundRect">
            <a:avLst>
              <a:gd name="adj" fmla="val 12000"/>
            </a:avLst>
          </a:prstGeom>
          <a:solidFill>
            <a:srgbClr val="11163A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484632" y="5567172"/>
            <a:ext cx="1600200" cy="329184"/>
          </a:xfrm>
          <a:prstGeom prst="roundRect">
            <a:avLst>
              <a:gd name="adj" fmla="val 20000"/>
            </a:avLst>
          </a:prstGeom>
          <a:solidFill>
            <a:srgbClr val="1E1B4B"/>
          </a:solidFill>
          <a:ln w="9525">
            <a:solidFill>
              <a:srgbClr val="6366F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84632" y="5567172"/>
            <a:ext cx="160020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2B6"/>
                </a:solidFill>
                <a:latin typeface="Courier New"/>
              </a:rPr>
              <a:t>viewport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194560" y="5494020"/>
            <a:ext cx="3767328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Arial"/>
              </a:rPr>
              <a:t>Ajusta a página à largura do celular. Sem ele, tudo fica minúsculo.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34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34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34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34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4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4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4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4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4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4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4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4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4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4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4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4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4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4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4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4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4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4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2" grpId="1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29" grpId="1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6" grpId="1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3" grpId="1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B1026"/>
            </a:gs>
            <a:gs pos="100000">
              <a:srgbClr val="1C1245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250">
                <a:solidFill>
                  <a:srgbClr val="C084FC"/>
                </a:solidFill>
                <a:latin typeface="Arial"/>
              </a:rPr>
              <a:t>01 · DOCUMENTO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8FAFC"/>
                </a:solidFill>
                <a:latin typeface="Arial"/>
              </a:rPr>
              <a:t>&lt;title&gt;, &lt;link&gt; e &lt;body&gt;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280"/>
                </a:solidFill>
                <a:latin typeface="Arial"/>
              </a:rPr>
              <a:t>Guia das tags HTML · Linguagem de Marcação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280"/>
                </a:solidFill>
                <a:latin typeface="Arial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25880"/>
            <a:ext cx="5623560" cy="2036064"/>
          </a:xfrm>
          <a:prstGeom prst="roundRect">
            <a:avLst>
              <a:gd name="adj" fmla="val 4000"/>
            </a:avLst>
          </a:prstGeom>
          <a:solidFill>
            <a:srgbClr val="0E1230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57784" y="1444752"/>
            <a:ext cx="100584" cy="100584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13232" y="1444752"/>
            <a:ext cx="100584" cy="100584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68680" y="1444752"/>
            <a:ext cx="100584" cy="100584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1380744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4A3B8"/>
                </a:solidFill>
                <a:latin typeface="Courier New"/>
              </a:rPr>
              <a:t>index.html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" y="1673352"/>
            <a:ext cx="5440680" cy="15697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472B6"/>
                </a:solidFill>
                <a:latin typeface="Courier New"/>
              </a:rPr>
              <a:t>&lt;head&gt;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Courier New"/>
              </a:rPr>
              <a:t>  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&lt;title&gt;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Doce Sabor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&lt;/title&gt;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Courier New"/>
              </a:rPr>
              <a:t>  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&lt;link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FBBF24"/>
                </a:solidFill>
                <a:latin typeface="Courier New"/>
              </a:rPr>
              <a:t>rel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=</a:t>
            </a:r>
            <a:r>
              <a:rPr sz="1050" b="0" i="0">
                <a:solidFill>
                  <a:srgbClr val="34D399"/>
                </a:solidFill>
                <a:latin typeface="Courier New"/>
              </a:rPr>
              <a:t>"stylesheet"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FBBF24"/>
                </a:solidFill>
                <a:latin typeface="Courier New"/>
              </a:rPr>
              <a:t>href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=</a:t>
            </a:r>
            <a:r>
              <a:rPr sz="1050" b="0" i="0">
                <a:solidFill>
                  <a:srgbClr val="34D399"/>
                </a:solidFill>
                <a:latin typeface="Courier New"/>
              </a:rPr>
              <a:t>"estilo.css"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&gt;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472B6"/>
                </a:solidFill>
                <a:latin typeface="Courier New"/>
              </a:rPr>
              <a:t>&lt;/head&gt;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472B6"/>
                </a:solidFill>
                <a:latin typeface="Courier New"/>
              </a:rPr>
              <a:t>&lt;body&gt;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Courier New"/>
              </a:rPr>
              <a:t>  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&lt;h1&gt;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Doce Sabor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&lt;/h1&gt;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Courier New"/>
              </a:rPr>
              <a:t>  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&lt;p&gt;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Bolos, doces e salgados.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&lt;/p&gt;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472B6"/>
                </a:solidFill>
                <a:latin typeface="Courier New"/>
              </a:rPr>
              <a:t>&lt;/body&gt;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325880"/>
            <a:ext cx="5532120" cy="4937760"/>
          </a:xfrm>
          <a:prstGeom prst="roundRect">
            <a:avLst>
              <a:gd name="adj" fmla="val 3000"/>
            </a:avLst>
          </a:prstGeom>
          <a:solidFill>
            <a:srgbClr val="1B2045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09944" y="1444752"/>
            <a:ext cx="100584" cy="100584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565392" y="1444752"/>
            <a:ext cx="100584" cy="100584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720840" y="1444752"/>
            <a:ext cx="100584" cy="100584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949440" y="1389888"/>
            <a:ext cx="4663440" cy="219456"/>
          </a:xfrm>
          <a:prstGeom prst="roundRect">
            <a:avLst>
              <a:gd name="adj" fmla="val 40000"/>
            </a:avLst>
          </a:prstGeom>
          <a:solidFill>
            <a:srgbClr val="0E123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86600" y="1389888"/>
            <a:ext cx="443484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4A3B8"/>
                </a:solidFill>
                <a:latin typeface="Courier New"/>
              </a:rPr>
              <a:t>index.html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1709928"/>
            <a:ext cx="5349240" cy="4462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29400" y="1984248"/>
            <a:ext cx="48006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Times New Roman"/>
              </a:rPr>
              <a:t>Doce Sabor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578608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Bolos, doces e salgados.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49440" y="1389888"/>
            <a:ext cx="2194560" cy="219456"/>
          </a:xfrm>
          <a:prstGeom prst="roundRect">
            <a:avLst>
              <a:gd name="adj" fmla="val 40000"/>
            </a:avLst>
          </a:prstGeom>
          <a:solidFill>
            <a:srgbClr val="6366F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49440" y="1389888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Doce Sabor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29400" y="3172968"/>
            <a:ext cx="3291840" cy="274320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29400" y="3172968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2937"/>
                </a:solidFill>
                <a:latin typeface="Arial"/>
              </a:rPr>
              <a:t>↑ o &lt;title&gt; aparece aqui, na aba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8" y="1859280"/>
            <a:ext cx="5495544" cy="199644"/>
          </a:xfrm>
          <a:prstGeom prst="roundRect">
            <a:avLst>
              <a:gd name="adj" fmla="val 8000"/>
            </a:avLst>
          </a:prstGeom>
          <a:solidFill>
            <a:srgbClr val="6366F1">
              <a:alpha val="26000"/>
            </a:srgbClr>
          </a:solidFill>
          <a:ln w="9525">
            <a:solidFill>
              <a:srgbClr val="818CF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11480" y="3489960"/>
            <a:ext cx="5623560" cy="457200"/>
          </a:xfrm>
          <a:prstGeom prst="roundRect">
            <a:avLst>
              <a:gd name="adj" fmla="val 12000"/>
            </a:avLst>
          </a:prstGeom>
          <a:solidFill>
            <a:srgbClr val="11163A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84632" y="3563112"/>
            <a:ext cx="1554480" cy="310896"/>
          </a:xfrm>
          <a:prstGeom prst="roundRect">
            <a:avLst>
              <a:gd name="adj" fmla="val 20000"/>
            </a:avLst>
          </a:prstGeom>
          <a:solidFill>
            <a:srgbClr val="1E1B4B"/>
          </a:solidFill>
          <a:ln w="9525">
            <a:solidFill>
              <a:srgbClr val="6366F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4632" y="3563112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2B6"/>
                </a:solidFill>
                <a:latin typeface="Courier New"/>
              </a:rPr>
              <a:t>&lt;title&gt;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48840" y="3489960"/>
            <a:ext cx="3813048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Arial"/>
              </a:rPr>
              <a:t>O nome da página na aba do navegador e no resultado do Google.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5080" y="1709928"/>
            <a:ext cx="5349240" cy="4462272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355080" y="1709928"/>
            <a:ext cx="5349240" cy="1005840"/>
          </a:xfrm>
          <a:prstGeom prst="rect">
            <a:avLst/>
          </a:prstGeom>
          <a:solidFill>
            <a:srgbClr val="7C4A2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75120" y="1847088"/>
            <a:ext cx="48006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Doce Sabor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2304288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BCFE8"/>
                </a:solidFill>
                <a:latin typeface="Arial"/>
              </a:rPr>
              <a:t>Bolos, doces e salgados.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75120" y="2944368"/>
            <a:ext cx="3566160" cy="274320"/>
          </a:xfrm>
          <a:prstGeom prst="roundRect">
            <a:avLst>
              <a:gd name="adj" fmla="val 30000"/>
            </a:avLst>
          </a:prstGeom>
          <a:solidFill>
            <a:srgbClr val="EC489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75120" y="2944368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estilo.css carregado: cores, fontes e layout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5488" y="2049780"/>
            <a:ext cx="5495544" cy="199644"/>
          </a:xfrm>
          <a:prstGeom prst="roundRect">
            <a:avLst>
              <a:gd name="adj" fmla="val 8000"/>
            </a:avLst>
          </a:prstGeom>
          <a:solidFill>
            <a:srgbClr val="6366F1">
              <a:alpha val="26000"/>
            </a:srgbClr>
          </a:solidFill>
          <a:ln w="9525">
            <a:solidFill>
              <a:srgbClr val="818CF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411480" y="4020312"/>
            <a:ext cx="5623560" cy="457200"/>
          </a:xfrm>
          <a:prstGeom prst="roundRect">
            <a:avLst>
              <a:gd name="adj" fmla="val 12000"/>
            </a:avLst>
          </a:prstGeom>
          <a:solidFill>
            <a:srgbClr val="11163A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484632" y="4093464"/>
            <a:ext cx="1554480" cy="310896"/>
          </a:xfrm>
          <a:prstGeom prst="roundRect">
            <a:avLst>
              <a:gd name="adj" fmla="val 20000"/>
            </a:avLst>
          </a:prstGeom>
          <a:solidFill>
            <a:srgbClr val="1E1B4B"/>
          </a:solidFill>
          <a:ln w="9525">
            <a:solidFill>
              <a:srgbClr val="6366F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84632" y="4093464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2B6"/>
                </a:solidFill>
                <a:latin typeface="Courier New"/>
              </a:rPr>
              <a:t>&lt;link&gt;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48840" y="4020312"/>
            <a:ext cx="3813048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Arial"/>
              </a:rPr>
              <a:t>Liga o arquivo de estilo (CSS) à página. Sem ele, o estilo.css não carrega.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28232" y="1783080"/>
            <a:ext cx="5202936" cy="4315968"/>
          </a:xfrm>
          <a:prstGeom prst="rect">
            <a:avLst/>
          </a:prstGeom>
          <a:noFill/>
          <a:ln w="25400">
            <a:solidFill>
              <a:srgbClr val="EC4899"/>
            </a:solidFill>
            <a:prstDash val="dash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8412480" y="5669280"/>
            <a:ext cx="3063240" cy="274320"/>
          </a:xfrm>
          <a:prstGeom prst="roundRect">
            <a:avLst>
              <a:gd name="adj" fmla="val 30000"/>
            </a:avLst>
          </a:prstGeom>
          <a:solidFill>
            <a:srgbClr val="EC489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412480" y="5669280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&lt;body&gt;: tudo o que aparece na tela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75488" y="2430780"/>
            <a:ext cx="5495544" cy="771144"/>
          </a:xfrm>
          <a:prstGeom prst="roundRect">
            <a:avLst>
              <a:gd name="adj" fmla="val 8000"/>
            </a:avLst>
          </a:prstGeom>
          <a:solidFill>
            <a:srgbClr val="6366F1">
              <a:alpha val="26000"/>
            </a:srgbClr>
          </a:solidFill>
          <a:ln w="9525">
            <a:solidFill>
              <a:srgbClr val="818CF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411480" y="4550664"/>
            <a:ext cx="5623560" cy="457200"/>
          </a:xfrm>
          <a:prstGeom prst="roundRect">
            <a:avLst>
              <a:gd name="adj" fmla="val 12000"/>
            </a:avLst>
          </a:prstGeom>
          <a:solidFill>
            <a:srgbClr val="11163A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484632" y="4623816"/>
            <a:ext cx="1554480" cy="310896"/>
          </a:xfrm>
          <a:prstGeom prst="roundRect">
            <a:avLst>
              <a:gd name="adj" fmla="val 20000"/>
            </a:avLst>
          </a:prstGeom>
          <a:solidFill>
            <a:srgbClr val="1E1B4B"/>
          </a:solidFill>
          <a:ln w="9525">
            <a:solidFill>
              <a:srgbClr val="6366F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84632" y="4623816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2B6"/>
                </a:solidFill>
                <a:latin typeface="Courier New"/>
              </a:rPr>
              <a:t>&lt;body&gt;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148840" y="4550664"/>
            <a:ext cx="3813048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Arial"/>
              </a:rPr>
              <a:t>O corpo da página: tudo o que aparece na tela fica aqui dentro.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34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34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34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34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4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6" grpId="1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B1026"/>
            </a:gs>
            <a:gs pos="100000">
              <a:srgbClr val="1C1245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250">
                <a:solidFill>
                  <a:srgbClr val="C084FC"/>
                </a:solidFill>
                <a:latin typeface="Arial"/>
              </a:rPr>
              <a:t>02 · ESTRUTURA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8FAFC"/>
                </a:solidFill>
                <a:latin typeface="Arial"/>
              </a:rPr>
              <a:t>O esqueleto: header, main, article, section e footer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280"/>
                </a:solidFill>
                <a:latin typeface="Arial"/>
              </a:rPr>
              <a:t>Guia das tags HTML · Linguagem de Marcação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280"/>
                </a:solidFill>
                <a:latin typeface="Arial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25880"/>
            <a:ext cx="5623560" cy="2036064"/>
          </a:xfrm>
          <a:prstGeom prst="roundRect">
            <a:avLst>
              <a:gd name="adj" fmla="val 4000"/>
            </a:avLst>
          </a:prstGeom>
          <a:solidFill>
            <a:srgbClr val="0E1230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57784" y="1444752"/>
            <a:ext cx="100584" cy="100584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13232" y="1444752"/>
            <a:ext cx="100584" cy="100584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68680" y="1444752"/>
            <a:ext cx="100584" cy="100584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1380744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4A3B8"/>
                </a:solidFill>
                <a:latin typeface="Courier New"/>
              </a:rPr>
              <a:t>index.html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" y="1673352"/>
            <a:ext cx="5440680" cy="15697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472B6"/>
                </a:solidFill>
                <a:latin typeface="Courier New"/>
              </a:rPr>
              <a:t>&lt;body&gt;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Courier New"/>
              </a:rPr>
              <a:t>  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&lt;header&gt;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logo e slogan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&lt;/header&gt;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Courier New"/>
              </a:rPr>
              <a:t>  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&lt;main&gt;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Courier New"/>
              </a:rPr>
              <a:t>    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&lt;article&gt;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bolo do mês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&lt;/article&gt;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Courier New"/>
              </a:rPr>
              <a:t>    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&lt;section&gt;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cardápio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&lt;/section&gt;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Courier New"/>
              </a:rPr>
              <a:t>  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&lt;/main&gt;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Courier New"/>
              </a:rPr>
              <a:t>  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&lt;footer&gt;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direitos e contato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&lt;/footer&gt;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472B6"/>
                </a:solidFill>
                <a:latin typeface="Courier New"/>
              </a:rPr>
              <a:t>&lt;/body&gt;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325880"/>
            <a:ext cx="5532120" cy="4937760"/>
          </a:xfrm>
          <a:prstGeom prst="roundRect">
            <a:avLst>
              <a:gd name="adj" fmla="val 3000"/>
            </a:avLst>
          </a:prstGeom>
          <a:solidFill>
            <a:srgbClr val="1B2045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09944" y="1444752"/>
            <a:ext cx="100584" cy="100584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565392" y="1444752"/>
            <a:ext cx="100584" cy="100584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720840" y="1444752"/>
            <a:ext cx="100584" cy="100584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949440" y="1389888"/>
            <a:ext cx="4663440" cy="219456"/>
          </a:xfrm>
          <a:prstGeom prst="roundRect">
            <a:avLst>
              <a:gd name="adj" fmla="val 40000"/>
            </a:avLst>
          </a:prstGeom>
          <a:solidFill>
            <a:srgbClr val="0E123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86600" y="1389888"/>
            <a:ext cx="443484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4A3B8"/>
                </a:solidFill>
                <a:latin typeface="Courier New"/>
              </a:rPr>
              <a:t>docesabor.com.br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1709928"/>
            <a:ext cx="5349240" cy="4462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583680" y="1892808"/>
            <a:ext cx="4892040" cy="685800"/>
          </a:xfrm>
          <a:prstGeom prst="roundRect">
            <a:avLst>
              <a:gd name="adj" fmla="val 5000"/>
            </a:avLst>
          </a:prstGeom>
          <a:solidFill>
            <a:srgbClr val="FCE7F3"/>
          </a:solidFill>
          <a:ln w="19050">
            <a:solidFill>
              <a:srgbClr val="BE185D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20840" y="1965960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E185D"/>
                </a:solidFill>
                <a:latin typeface="Courier New"/>
              </a:rPr>
              <a:t>&lt;header&gt;  </a:t>
            </a:r>
            <a:r>
              <a:rPr sz="1000" b="0" i="0">
                <a:solidFill>
                  <a:srgbClr val="1F2937"/>
                </a:solidFill>
                <a:latin typeface="Arial"/>
              </a:rPr>
              <a:t>logo e slogan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" y="1859280"/>
            <a:ext cx="5495544" cy="199644"/>
          </a:xfrm>
          <a:prstGeom prst="roundRect">
            <a:avLst>
              <a:gd name="adj" fmla="val 8000"/>
            </a:avLst>
          </a:prstGeom>
          <a:solidFill>
            <a:srgbClr val="6366F1">
              <a:alpha val="26000"/>
            </a:srgbClr>
          </a:solidFill>
          <a:ln w="9525">
            <a:solidFill>
              <a:srgbClr val="818CF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11480" y="3489960"/>
            <a:ext cx="5623560" cy="393192"/>
          </a:xfrm>
          <a:prstGeom prst="roundRect">
            <a:avLst>
              <a:gd name="adj" fmla="val 12000"/>
            </a:avLst>
          </a:prstGeom>
          <a:solidFill>
            <a:srgbClr val="11163A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84632" y="3563112"/>
            <a:ext cx="1371600" cy="246888"/>
          </a:xfrm>
          <a:prstGeom prst="roundRect">
            <a:avLst>
              <a:gd name="adj" fmla="val 20000"/>
            </a:avLst>
          </a:prstGeom>
          <a:solidFill>
            <a:srgbClr val="1E1B4B"/>
          </a:solidFill>
          <a:ln w="9525">
            <a:solidFill>
              <a:srgbClr val="6366F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4632" y="3563112"/>
            <a:ext cx="1371600" cy="2468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2B6"/>
                </a:solidFill>
                <a:latin typeface="Courier New"/>
              </a:rPr>
              <a:t>&lt;header&gt;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489960"/>
            <a:ext cx="3995928" cy="3931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Arial"/>
              </a:rPr>
              <a:t>O topo do site: logo, nome e slogan.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0" y="2715768"/>
            <a:ext cx="4892040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6366F1"/>
            </a:solidFill>
            <a:prstDash val="dash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20840" y="2788920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366F1"/>
                </a:solidFill>
                <a:latin typeface="Courier New"/>
              </a:rPr>
              <a:t>&lt;main&gt;  </a:t>
            </a:r>
            <a:r>
              <a:rPr sz="1000" b="0" i="0">
                <a:solidFill>
                  <a:srgbClr val="1F2937"/>
                </a:solidFill>
                <a:latin typeface="Arial"/>
              </a:rPr>
              <a:t>conteúdo principal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2049780"/>
            <a:ext cx="5495544" cy="771144"/>
          </a:xfrm>
          <a:prstGeom prst="roundRect">
            <a:avLst>
              <a:gd name="adj" fmla="val 8000"/>
            </a:avLst>
          </a:prstGeom>
          <a:solidFill>
            <a:srgbClr val="6366F1">
              <a:alpha val="26000"/>
            </a:srgbClr>
          </a:solidFill>
          <a:ln w="9525">
            <a:solidFill>
              <a:srgbClr val="818CF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411480" y="3956304"/>
            <a:ext cx="5623560" cy="393192"/>
          </a:xfrm>
          <a:prstGeom prst="roundRect">
            <a:avLst>
              <a:gd name="adj" fmla="val 12000"/>
            </a:avLst>
          </a:prstGeom>
          <a:solidFill>
            <a:srgbClr val="11163A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484632" y="4029456"/>
            <a:ext cx="1371600" cy="246888"/>
          </a:xfrm>
          <a:prstGeom prst="roundRect">
            <a:avLst>
              <a:gd name="adj" fmla="val 20000"/>
            </a:avLst>
          </a:prstGeom>
          <a:solidFill>
            <a:srgbClr val="1E1B4B"/>
          </a:solidFill>
          <a:ln w="9525">
            <a:solidFill>
              <a:srgbClr val="6366F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84632" y="4029456"/>
            <a:ext cx="1371600" cy="2468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2B6"/>
                </a:solidFill>
                <a:latin typeface="Courier New"/>
              </a:rPr>
              <a:t>&lt;main&gt;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65960" y="3956304"/>
            <a:ext cx="3995928" cy="3931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Arial"/>
              </a:rPr>
              <a:t>O conteúdo principal. Só existe um por página.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12280" y="3127248"/>
            <a:ext cx="4434840" cy="91440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 w="19050">
            <a:solidFill>
              <a:srgbClr val="C2410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949440" y="3200400"/>
            <a:ext cx="41605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2410C"/>
                </a:solidFill>
                <a:latin typeface="Courier New"/>
              </a:rPr>
              <a:t>&lt;article&gt;  </a:t>
            </a:r>
            <a:r>
              <a:rPr sz="1000" b="0" i="0">
                <a:solidFill>
                  <a:srgbClr val="1F2937"/>
                </a:solidFill>
                <a:latin typeface="Arial"/>
              </a:rPr>
              <a:t>bolo do mês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5488" y="2240280"/>
            <a:ext cx="5495544" cy="199644"/>
          </a:xfrm>
          <a:prstGeom prst="roundRect">
            <a:avLst>
              <a:gd name="adj" fmla="val 8000"/>
            </a:avLst>
          </a:prstGeom>
          <a:solidFill>
            <a:srgbClr val="6366F1">
              <a:alpha val="26000"/>
            </a:srgbClr>
          </a:solidFill>
          <a:ln w="9525">
            <a:solidFill>
              <a:srgbClr val="818CF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411480" y="4422648"/>
            <a:ext cx="5623560" cy="393192"/>
          </a:xfrm>
          <a:prstGeom prst="roundRect">
            <a:avLst>
              <a:gd name="adj" fmla="val 12000"/>
            </a:avLst>
          </a:prstGeom>
          <a:solidFill>
            <a:srgbClr val="11163A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484632" y="4495800"/>
            <a:ext cx="1371600" cy="246888"/>
          </a:xfrm>
          <a:prstGeom prst="roundRect">
            <a:avLst>
              <a:gd name="adj" fmla="val 20000"/>
            </a:avLst>
          </a:prstGeom>
          <a:solidFill>
            <a:srgbClr val="1E1B4B"/>
          </a:solidFill>
          <a:ln w="9525">
            <a:solidFill>
              <a:srgbClr val="6366F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84632" y="4495800"/>
            <a:ext cx="1371600" cy="2468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2B6"/>
                </a:solidFill>
                <a:latin typeface="Courier New"/>
              </a:rPr>
              <a:t>&lt;article&gt;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4422648"/>
            <a:ext cx="3995928" cy="3931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Arial"/>
              </a:rPr>
              <a:t>Conteúdo que faz sentido sozinho, como o bolo do mês ou uma notícia.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12280" y="4178808"/>
            <a:ext cx="4434840" cy="914400"/>
          </a:xfrm>
          <a:prstGeom prst="roundRect">
            <a:avLst>
              <a:gd name="adj" fmla="val 5000"/>
            </a:avLst>
          </a:prstGeom>
          <a:solidFill>
            <a:srgbClr val="FDF2F8"/>
          </a:solidFill>
          <a:ln w="19050">
            <a:solidFill>
              <a:srgbClr val="DB277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949440" y="4251960"/>
            <a:ext cx="41605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B2777"/>
                </a:solidFill>
                <a:latin typeface="Courier New"/>
              </a:rPr>
              <a:t>&lt;section&gt;  </a:t>
            </a:r>
            <a:r>
              <a:rPr sz="1000" b="0" i="0">
                <a:solidFill>
                  <a:srgbClr val="1F2937"/>
                </a:solidFill>
                <a:latin typeface="Arial"/>
              </a:rPr>
              <a:t>cardápio com vários bolos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75488" y="2430780"/>
            <a:ext cx="5495544" cy="199644"/>
          </a:xfrm>
          <a:prstGeom prst="roundRect">
            <a:avLst>
              <a:gd name="adj" fmla="val 8000"/>
            </a:avLst>
          </a:prstGeom>
          <a:solidFill>
            <a:srgbClr val="6366F1">
              <a:alpha val="26000"/>
            </a:srgbClr>
          </a:solidFill>
          <a:ln w="9525">
            <a:solidFill>
              <a:srgbClr val="818CF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411480" y="4888992"/>
            <a:ext cx="5623560" cy="393192"/>
          </a:xfrm>
          <a:prstGeom prst="roundRect">
            <a:avLst>
              <a:gd name="adj" fmla="val 12000"/>
            </a:avLst>
          </a:prstGeom>
          <a:solidFill>
            <a:srgbClr val="11163A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484632" y="4962144"/>
            <a:ext cx="1371600" cy="246888"/>
          </a:xfrm>
          <a:prstGeom prst="roundRect">
            <a:avLst>
              <a:gd name="adj" fmla="val 20000"/>
            </a:avLst>
          </a:prstGeom>
          <a:solidFill>
            <a:srgbClr val="1E1B4B"/>
          </a:solidFill>
          <a:ln w="9525">
            <a:solidFill>
              <a:srgbClr val="6366F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84632" y="4962144"/>
            <a:ext cx="1371600" cy="2468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2B6"/>
                </a:solidFill>
                <a:latin typeface="Courier New"/>
              </a:rPr>
              <a:t>&lt;section&gt;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65960" y="4888992"/>
            <a:ext cx="3995928" cy="3931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Arial"/>
              </a:rPr>
              <a:t>Um bloco com tema e título próprio: Cardápio, Perguntas frequentes.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83680" y="5458968"/>
            <a:ext cx="4892040" cy="594360"/>
          </a:xfrm>
          <a:prstGeom prst="roundRect">
            <a:avLst>
              <a:gd name="adj" fmla="val 5000"/>
            </a:avLst>
          </a:prstGeom>
          <a:solidFill>
            <a:srgbClr val="3F2A1E"/>
          </a:solidFill>
          <a:ln w="19050">
            <a:solidFill>
              <a:srgbClr val="D6B8A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720840" y="5532120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6B8A6"/>
                </a:solidFill>
                <a:latin typeface="Courier New"/>
              </a:rPr>
              <a:t>&lt;footer&gt;  </a:t>
            </a:r>
            <a:r>
              <a:rPr sz="1000" b="0" i="0">
                <a:solidFill>
                  <a:srgbClr val="F5E6DA"/>
                </a:solidFill>
                <a:latin typeface="Arial"/>
              </a:rPr>
              <a:t>direitos e contato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75488" y="2811780"/>
            <a:ext cx="5495544" cy="199644"/>
          </a:xfrm>
          <a:prstGeom prst="roundRect">
            <a:avLst>
              <a:gd name="adj" fmla="val 8000"/>
            </a:avLst>
          </a:prstGeom>
          <a:solidFill>
            <a:srgbClr val="6366F1">
              <a:alpha val="26000"/>
            </a:srgbClr>
          </a:solidFill>
          <a:ln w="9525">
            <a:solidFill>
              <a:srgbClr val="818CF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411480" y="5355336"/>
            <a:ext cx="5623560" cy="393192"/>
          </a:xfrm>
          <a:prstGeom prst="roundRect">
            <a:avLst>
              <a:gd name="adj" fmla="val 12000"/>
            </a:avLst>
          </a:prstGeom>
          <a:solidFill>
            <a:srgbClr val="11163A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484632" y="5428488"/>
            <a:ext cx="1371600" cy="246888"/>
          </a:xfrm>
          <a:prstGeom prst="roundRect">
            <a:avLst>
              <a:gd name="adj" fmla="val 20000"/>
            </a:avLst>
          </a:prstGeom>
          <a:solidFill>
            <a:srgbClr val="1E1B4B"/>
          </a:solidFill>
          <a:ln w="9525">
            <a:solidFill>
              <a:srgbClr val="6366F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84632" y="5428488"/>
            <a:ext cx="1371600" cy="2468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2B6"/>
                </a:solidFill>
                <a:latin typeface="Courier New"/>
              </a:rPr>
              <a:t>&lt;footer&gt;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965960" y="5355336"/>
            <a:ext cx="3995928" cy="3931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Arial"/>
              </a:rPr>
              <a:t>O rodapé: direitos, contato e endereço.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3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34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34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" dur="3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34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4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4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4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4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4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1" grpId="1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8" grpId="1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5" grpId="1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2" grpId="1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B1026"/>
            </a:gs>
            <a:gs pos="100000">
              <a:srgbClr val="1C1245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250">
                <a:solidFill>
                  <a:srgbClr val="C084FC"/>
                </a:solidFill>
                <a:latin typeface="Arial"/>
              </a:rPr>
              <a:t>02 · ESTRUTURA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8FAFC"/>
                </a:solidFill>
                <a:latin typeface="Arial"/>
              </a:rPr>
              <a:t>&lt;div&gt;: a caixa sem significado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280"/>
                </a:solidFill>
                <a:latin typeface="Arial"/>
              </a:rPr>
              <a:t>Guia das tags HTML · Linguagem de Marcação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280"/>
                </a:solidFill>
                <a:latin typeface="Arial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25880"/>
            <a:ext cx="5623560" cy="1845564"/>
          </a:xfrm>
          <a:prstGeom prst="roundRect">
            <a:avLst>
              <a:gd name="adj" fmla="val 4000"/>
            </a:avLst>
          </a:prstGeom>
          <a:solidFill>
            <a:srgbClr val="0E1230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57784" y="1444752"/>
            <a:ext cx="100584" cy="100584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13232" y="1444752"/>
            <a:ext cx="100584" cy="100584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68680" y="1444752"/>
            <a:ext cx="100584" cy="100584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1380744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4A3B8"/>
                </a:solidFill>
                <a:latin typeface="Courier New"/>
              </a:rPr>
              <a:t>index.html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" y="1673352"/>
            <a:ext cx="5440680" cy="13792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280"/>
                </a:solidFill>
                <a:latin typeface="Courier New"/>
              </a:rPr>
              <a:t>&lt;!-- jeito antigo --&gt;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472B6"/>
                </a:solidFill>
                <a:latin typeface="Courier New"/>
              </a:rPr>
              <a:t>&lt;div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FBBF24"/>
                </a:solidFill>
                <a:latin typeface="Courier New"/>
              </a:rPr>
              <a:t>class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=</a:t>
            </a:r>
            <a:r>
              <a:rPr sz="1050" b="0" i="0">
                <a:solidFill>
                  <a:srgbClr val="34D399"/>
                </a:solidFill>
                <a:latin typeface="Courier New"/>
              </a:rPr>
              <a:t>"topo"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&gt;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Doce Sabor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&lt;/div&gt;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472B6"/>
                </a:solidFill>
                <a:latin typeface="Courier New"/>
              </a:rPr>
              <a:t>&lt;div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FBBF24"/>
                </a:solidFill>
                <a:latin typeface="Courier New"/>
              </a:rPr>
              <a:t>class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=</a:t>
            </a:r>
            <a:r>
              <a:rPr sz="1050" b="0" i="0">
                <a:solidFill>
                  <a:srgbClr val="34D399"/>
                </a:solidFill>
                <a:latin typeface="Courier New"/>
              </a:rPr>
              <a:t>"rodape"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&gt;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Contato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&lt;/div&gt;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Courier New"/>
              </a:rPr>
              <a:t> 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280"/>
                </a:solidFill>
                <a:latin typeface="Courier New"/>
              </a:rPr>
              <a:t>&lt;!-- jeito semântico --&gt;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472B6"/>
                </a:solidFill>
                <a:latin typeface="Courier New"/>
              </a:rPr>
              <a:t>&lt;header&gt;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Doce Sabor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&lt;/header&gt;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472B6"/>
                </a:solidFill>
                <a:latin typeface="Courier New"/>
              </a:rPr>
              <a:t>&lt;footer&gt;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Contato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&lt;/footer&gt;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325880"/>
            <a:ext cx="5532120" cy="4937760"/>
          </a:xfrm>
          <a:prstGeom prst="roundRect">
            <a:avLst>
              <a:gd name="adj" fmla="val 3000"/>
            </a:avLst>
          </a:prstGeom>
          <a:solidFill>
            <a:srgbClr val="1B2045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09944" y="1444752"/>
            <a:ext cx="100584" cy="100584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565392" y="1444752"/>
            <a:ext cx="100584" cy="100584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720840" y="1444752"/>
            <a:ext cx="100584" cy="100584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949440" y="1389888"/>
            <a:ext cx="4663440" cy="219456"/>
          </a:xfrm>
          <a:prstGeom prst="roundRect">
            <a:avLst>
              <a:gd name="adj" fmla="val 40000"/>
            </a:avLst>
          </a:prstGeom>
          <a:solidFill>
            <a:srgbClr val="0E123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86600" y="1389888"/>
            <a:ext cx="443484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4A3B8"/>
                </a:solidFill>
                <a:latin typeface="Courier New"/>
              </a:rPr>
              <a:t>docesabor.com.br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1709928"/>
            <a:ext cx="5349240" cy="4462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0" y="193852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C2626"/>
                </a:solidFill>
                <a:latin typeface="Courier New"/>
              </a:rPr>
              <a:t>com &lt;div&gt;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2258568"/>
            <a:ext cx="2377440" cy="502920"/>
          </a:xfrm>
          <a:prstGeom prst="rect">
            <a:avLst/>
          </a:prstGeom>
          <a:solidFill>
            <a:srgbClr val="7C4A2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0" y="2258568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Doce Sabor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2807208"/>
            <a:ext cx="2377440" cy="82296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583680" y="3675888"/>
            <a:ext cx="2377440" cy="365760"/>
          </a:xfrm>
          <a:prstGeom prst="rect">
            <a:avLst/>
          </a:prstGeom>
          <a:solidFill>
            <a:srgbClr val="3F2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0" y="3675888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5E6DA"/>
                </a:solidFill>
                <a:latin typeface="Arial"/>
              </a:rPr>
              <a:t>Contato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8" y="1859280"/>
            <a:ext cx="5495544" cy="390144"/>
          </a:xfrm>
          <a:prstGeom prst="roundRect">
            <a:avLst>
              <a:gd name="adj" fmla="val 8000"/>
            </a:avLst>
          </a:prstGeom>
          <a:solidFill>
            <a:srgbClr val="6366F1">
              <a:alpha val="26000"/>
            </a:srgbClr>
          </a:solidFill>
          <a:ln w="9525">
            <a:solidFill>
              <a:srgbClr val="818CF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11480" y="3299460"/>
            <a:ext cx="5623560" cy="512064"/>
          </a:xfrm>
          <a:prstGeom prst="roundRect">
            <a:avLst>
              <a:gd name="adj" fmla="val 12000"/>
            </a:avLst>
          </a:prstGeom>
          <a:solidFill>
            <a:srgbClr val="11163A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84632" y="3372612"/>
            <a:ext cx="1600200" cy="365760"/>
          </a:xfrm>
          <a:prstGeom prst="roundRect">
            <a:avLst>
              <a:gd name="adj" fmla="val 20000"/>
            </a:avLst>
          </a:prstGeom>
          <a:solidFill>
            <a:srgbClr val="1E1B4B"/>
          </a:solidFill>
          <a:ln w="9525">
            <a:solidFill>
              <a:srgbClr val="6366F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4632" y="3372612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2B6"/>
                </a:solidFill>
                <a:latin typeface="Courier New"/>
              </a:rPr>
              <a:t>&lt;div&gt;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94560" y="3299460"/>
            <a:ext cx="3767328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Arial"/>
              </a:rPr>
              <a:t>Caixa genérica: só agrupa coisas para o CSS. Não diz o que o conteúdo é.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193852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A34A"/>
                </a:solidFill>
                <a:latin typeface="Courier New"/>
              </a:rPr>
              <a:t>com semântica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0" y="2258568"/>
            <a:ext cx="2377440" cy="502920"/>
          </a:xfrm>
          <a:prstGeom prst="rect">
            <a:avLst/>
          </a:prstGeom>
          <a:solidFill>
            <a:srgbClr val="7C4A2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0" y="2258568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Doce Sabor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0" y="2807208"/>
            <a:ext cx="2377440" cy="82296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144000" y="3675888"/>
            <a:ext cx="2377440" cy="365760"/>
          </a:xfrm>
          <a:prstGeom prst="rect">
            <a:avLst/>
          </a:prstGeom>
          <a:solidFill>
            <a:srgbClr val="3F2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44000" y="3675888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5E6DA"/>
                </a:solidFill>
                <a:latin typeface="Arial"/>
              </a:rPr>
              <a:t>Contato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18120" y="4178808"/>
            <a:ext cx="2377440" cy="274320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818120" y="417880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2937"/>
                </a:solidFill>
                <a:latin typeface="Arial"/>
              </a:rPr>
              <a:t>na tela: igual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75488" y="2621280"/>
            <a:ext cx="5495544" cy="390144"/>
          </a:xfrm>
          <a:prstGeom prst="roundRect">
            <a:avLst>
              <a:gd name="adj" fmla="val 8000"/>
            </a:avLst>
          </a:prstGeom>
          <a:solidFill>
            <a:srgbClr val="6366F1">
              <a:alpha val="26000"/>
            </a:srgbClr>
          </a:solidFill>
          <a:ln w="9525">
            <a:solidFill>
              <a:srgbClr val="818CF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411480" y="3884676"/>
            <a:ext cx="5623560" cy="512064"/>
          </a:xfrm>
          <a:prstGeom prst="roundRect">
            <a:avLst>
              <a:gd name="adj" fmla="val 12000"/>
            </a:avLst>
          </a:prstGeom>
          <a:solidFill>
            <a:srgbClr val="11163A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484632" y="3957828"/>
            <a:ext cx="1600200" cy="365760"/>
          </a:xfrm>
          <a:prstGeom prst="roundRect">
            <a:avLst>
              <a:gd name="adj" fmla="val 20000"/>
            </a:avLst>
          </a:prstGeom>
          <a:solidFill>
            <a:srgbClr val="1E1B4B"/>
          </a:solidFill>
          <a:ln w="9525">
            <a:solidFill>
              <a:srgbClr val="6366F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84632" y="3957828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2B6"/>
                </a:solidFill>
                <a:latin typeface="Courier New"/>
              </a:rPr>
              <a:t>&lt;header&gt; &lt;footer&gt;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94560" y="3884676"/>
            <a:ext cx="3767328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Arial"/>
              </a:rPr>
              <a:t>Na tela fica igual! A diferença está no significado.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0" y="4636008"/>
            <a:ext cx="2377440" cy="868680"/>
          </a:xfrm>
          <a:prstGeom prst="roundRect">
            <a:avLst>
              <a:gd name="adj" fmla="val 20000"/>
            </a:avLst>
          </a:prstGeom>
          <a:solidFill>
            <a:srgbClr val="EEF2FF"/>
          </a:solidFill>
          <a:ln w="12700">
            <a:solidFill>
              <a:srgbClr val="6366F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675120" y="4636008"/>
            <a:ext cx="219456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12E81"/>
                </a:solidFill>
                <a:latin typeface="Arial"/>
              </a:rPr>
              <a:t>"Doce Sabor. Contato."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144000" y="4636008"/>
            <a:ext cx="2377440" cy="868680"/>
          </a:xfrm>
          <a:prstGeom prst="roundRect">
            <a:avLst>
              <a:gd name="adj" fmla="val 20000"/>
            </a:avLst>
          </a:prstGeom>
          <a:solidFill>
            <a:srgbClr val="EEF2FF"/>
          </a:solidFill>
          <a:ln w="12700">
            <a:solidFill>
              <a:srgbClr val="6366F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235440" y="4636008"/>
            <a:ext cx="219456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12E81"/>
                </a:solidFill>
                <a:latin typeface="Arial"/>
              </a:rPr>
              <a:t>"Cabeçalho: Doce Sabor. Rodapé: Contato."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0" y="5596128"/>
            <a:ext cx="489204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4B5563"/>
                </a:solidFill>
                <a:latin typeface="Arial"/>
              </a:rPr>
              <a:t>Quem é cego consegue pular direto para cada região.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11480" y="4469892"/>
            <a:ext cx="5623560" cy="512064"/>
          </a:xfrm>
          <a:prstGeom prst="roundRect">
            <a:avLst>
              <a:gd name="adj" fmla="val 12000"/>
            </a:avLst>
          </a:prstGeom>
          <a:solidFill>
            <a:srgbClr val="11163A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484632" y="4543044"/>
            <a:ext cx="1600200" cy="365760"/>
          </a:xfrm>
          <a:prstGeom prst="roundRect">
            <a:avLst>
              <a:gd name="adj" fmla="val 20000"/>
            </a:avLst>
          </a:prstGeom>
          <a:solidFill>
            <a:srgbClr val="1E1B4B"/>
          </a:solidFill>
          <a:ln w="9525">
            <a:solidFill>
              <a:srgbClr val="6366F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84632" y="4543044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2B6"/>
                </a:solidFill>
                <a:latin typeface="Courier New"/>
              </a:rPr>
              <a:t>leitor de tela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94560" y="4469892"/>
            <a:ext cx="3767328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Arial"/>
              </a:rPr>
              <a:t>Com div ele só lê o texto. Com header e footer ele avisa: cabeçalho, rodapé.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11480" y="5055108"/>
            <a:ext cx="5623560" cy="512064"/>
          </a:xfrm>
          <a:prstGeom prst="roundRect">
            <a:avLst>
              <a:gd name="adj" fmla="val 12000"/>
            </a:avLst>
          </a:prstGeom>
          <a:solidFill>
            <a:srgbClr val="11163A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484632" y="5128260"/>
            <a:ext cx="1600200" cy="365760"/>
          </a:xfrm>
          <a:prstGeom prst="roundRect">
            <a:avLst>
              <a:gd name="adj" fmla="val 20000"/>
            </a:avLst>
          </a:prstGeom>
          <a:solidFill>
            <a:srgbClr val="1E1B4B"/>
          </a:solidFill>
          <a:ln w="9525">
            <a:solidFill>
              <a:srgbClr val="6366F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84632" y="5128260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2B6"/>
                </a:solidFill>
                <a:latin typeface="Courier New"/>
              </a:rPr>
              <a:t>quando usar div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94560" y="5055108"/>
            <a:ext cx="3767328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Arial"/>
              </a:rPr>
              <a:t>Quando nenhuma tag semântica combina. Ex.: juntar o checkbox e o texto para o CSS.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34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3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34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4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4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4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4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4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4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4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4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5" grpId="1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8" grpId="1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B1026"/>
            </a:gs>
            <a:gs pos="100000">
              <a:srgbClr val="1C1245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250">
                <a:solidFill>
                  <a:srgbClr val="C084FC"/>
                </a:solidFill>
                <a:latin typeface="Arial"/>
              </a:rPr>
              <a:t>03 · TEXTO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8FAFC"/>
                </a:solidFill>
                <a:latin typeface="Arial"/>
              </a:rPr>
              <a:t>&lt;h1&gt;, &lt;h2&gt;, &lt;h3&gt; e &lt;p&gt;: títulos e parágrafos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280"/>
                </a:solidFill>
                <a:latin typeface="Arial"/>
              </a:rPr>
              <a:t>Guia das tags HTML · Linguagem de Marcação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280"/>
                </a:solidFill>
                <a:latin typeface="Arial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25880"/>
            <a:ext cx="5623560" cy="1464564"/>
          </a:xfrm>
          <a:prstGeom prst="roundRect">
            <a:avLst>
              <a:gd name="adj" fmla="val 4000"/>
            </a:avLst>
          </a:prstGeom>
          <a:solidFill>
            <a:srgbClr val="0E1230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57784" y="1444752"/>
            <a:ext cx="100584" cy="100584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13232" y="1444752"/>
            <a:ext cx="100584" cy="100584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68680" y="1444752"/>
            <a:ext cx="100584" cy="100584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1380744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4A3B8"/>
                </a:solidFill>
                <a:latin typeface="Courier New"/>
              </a:rPr>
              <a:t>index.html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" y="1673352"/>
            <a:ext cx="5440680" cy="9982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472B6"/>
                </a:solidFill>
                <a:latin typeface="Courier New"/>
              </a:rPr>
              <a:t>&lt;h1&gt;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Doce Sabor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&lt;/h1&gt;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472B6"/>
                </a:solidFill>
                <a:latin typeface="Courier New"/>
              </a:rPr>
              <a:t>&lt;h2&gt;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Bolo do mês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&lt;/h2&gt;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472B6"/>
                </a:solidFill>
                <a:latin typeface="Courier New"/>
              </a:rPr>
              <a:t>&lt;p&gt;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Feito com muito carinho.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&lt;/p&gt;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472B6"/>
                </a:solidFill>
                <a:latin typeface="Courier New"/>
              </a:rPr>
              <a:t>&lt;h3&gt;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Ninho com morango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&lt;/h3&gt;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472B6"/>
                </a:solidFill>
                <a:latin typeface="Courier New"/>
              </a:rPr>
              <a:t>&lt;p&gt;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Bolo de pote, 300 g.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&lt;/p&gt;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325880"/>
            <a:ext cx="5532120" cy="4937760"/>
          </a:xfrm>
          <a:prstGeom prst="roundRect">
            <a:avLst>
              <a:gd name="adj" fmla="val 3000"/>
            </a:avLst>
          </a:prstGeom>
          <a:solidFill>
            <a:srgbClr val="1B2045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09944" y="1444752"/>
            <a:ext cx="100584" cy="100584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565392" y="1444752"/>
            <a:ext cx="100584" cy="100584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720840" y="1444752"/>
            <a:ext cx="100584" cy="100584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949440" y="1389888"/>
            <a:ext cx="4663440" cy="219456"/>
          </a:xfrm>
          <a:prstGeom prst="roundRect">
            <a:avLst>
              <a:gd name="adj" fmla="val 40000"/>
            </a:avLst>
          </a:prstGeom>
          <a:solidFill>
            <a:srgbClr val="0E123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86600" y="1389888"/>
            <a:ext cx="443484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4A3B8"/>
                </a:solidFill>
                <a:latin typeface="Courier New"/>
              </a:rPr>
              <a:t>docesabor.com.br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1709928"/>
            <a:ext cx="5349240" cy="4462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75120" y="1984248"/>
            <a:ext cx="416052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3F2A1E"/>
                </a:solidFill>
                <a:latin typeface="Arial"/>
              </a:rPr>
              <a:t>Doce Sabor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27080" y="2189988"/>
            <a:ext cx="548640" cy="274320"/>
          </a:xfrm>
          <a:prstGeom prst="roundRect">
            <a:avLst>
              <a:gd name="adj" fmla="val 30000"/>
            </a:avLst>
          </a:prstGeom>
          <a:solidFill>
            <a:srgbClr val="FCE7F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27080" y="218998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D174D"/>
                </a:solidFill>
                <a:latin typeface="Courier New"/>
              </a:rPr>
              <a:t>h1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1668780"/>
            <a:ext cx="5495544" cy="199644"/>
          </a:xfrm>
          <a:prstGeom prst="roundRect">
            <a:avLst>
              <a:gd name="adj" fmla="val 8000"/>
            </a:avLst>
          </a:prstGeom>
          <a:solidFill>
            <a:srgbClr val="6366F1">
              <a:alpha val="26000"/>
            </a:srgbClr>
          </a:solidFill>
          <a:ln w="9525">
            <a:solidFill>
              <a:srgbClr val="818CF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11480" y="2918460"/>
            <a:ext cx="5623560" cy="457200"/>
          </a:xfrm>
          <a:prstGeom prst="roundRect">
            <a:avLst>
              <a:gd name="adj" fmla="val 12000"/>
            </a:avLst>
          </a:prstGeom>
          <a:solidFill>
            <a:srgbClr val="11163A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84632" y="2991612"/>
            <a:ext cx="1554480" cy="310896"/>
          </a:xfrm>
          <a:prstGeom prst="roundRect">
            <a:avLst>
              <a:gd name="adj" fmla="val 20000"/>
            </a:avLst>
          </a:prstGeom>
          <a:solidFill>
            <a:srgbClr val="1E1B4B"/>
          </a:solidFill>
          <a:ln w="9525">
            <a:solidFill>
              <a:srgbClr val="6366F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4632" y="2991612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2B6"/>
                </a:solidFill>
                <a:latin typeface="Courier New"/>
              </a:rPr>
              <a:t>&lt;h1&gt;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48840" y="2918460"/>
            <a:ext cx="3813048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Arial"/>
              </a:rPr>
              <a:t>O título mais importante da página. Use só um.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2807208"/>
            <a:ext cx="416052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3F2A1E"/>
                </a:solidFill>
                <a:latin typeface="Arial"/>
              </a:rPr>
              <a:t>Bolo do mês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27080" y="2921508"/>
            <a:ext cx="548640" cy="274320"/>
          </a:xfrm>
          <a:prstGeom prst="roundRect">
            <a:avLst>
              <a:gd name="adj" fmla="val 30000"/>
            </a:avLst>
          </a:prstGeom>
          <a:solidFill>
            <a:srgbClr val="FCE7F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927080" y="292150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D174D"/>
                </a:solidFill>
                <a:latin typeface="Courier New"/>
              </a:rPr>
              <a:t>h2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1859280"/>
            <a:ext cx="5495544" cy="199644"/>
          </a:xfrm>
          <a:prstGeom prst="roundRect">
            <a:avLst>
              <a:gd name="adj" fmla="val 8000"/>
            </a:avLst>
          </a:prstGeom>
          <a:solidFill>
            <a:srgbClr val="6366F1">
              <a:alpha val="26000"/>
            </a:srgbClr>
          </a:solidFill>
          <a:ln w="9525">
            <a:solidFill>
              <a:srgbClr val="818CF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411480" y="3448812"/>
            <a:ext cx="5623560" cy="457200"/>
          </a:xfrm>
          <a:prstGeom prst="roundRect">
            <a:avLst>
              <a:gd name="adj" fmla="val 12000"/>
            </a:avLst>
          </a:prstGeom>
          <a:solidFill>
            <a:srgbClr val="11163A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484632" y="3521964"/>
            <a:ext cx="1554480" cy="310896"/>
          </a:xfrm>
          <a:prstGeom prst="roundRect">
            <a:avLst>
              <a:gd name="adj" fmla="val 20000"/>
            </a:avLst>
          </a:prstGeom>
          <a:solidFill>
            <a:srgbClr val="1E1B4B"/>
          </a:solidFill>
          <a:ln w="9525">
            <a:solidFill>
              <a:srgbClr val="6366F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84632" y="3521964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2B6"/>
                </a:solidFill>
                <a:latin typeface="Courier New"/>
              </a:rPr>
              <a:t>&lt;h2&gt;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48840" y="3448812"/>
            <a:ext cx="3813048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Arial"/>
              </a:rPr>
              <a:t>Subtítulo: abre uma parte da página.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3355848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F2A1E"/>
                </a:solidFill>
                <a:latin typeface="Arial"/>
              </a:rPr>
              <a:t>Feito com muito carinho.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927080" y="3401568"/>
            <a:ext cx="548640" cy="274320"/>
          </a:xfrm>
          <a:prstGeom prst="roundRect">
            <a:avLst>
              <a:gd name="adj" fmla="val 30000"/>
            </a:avLst>
          </a:prstGeom>
          <a:solidFill>
            <a:srgbClr val="FCE7F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927080" y="340156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D174D"/>
                </a:solidFill>
                <a:latin typeface="Courier New"/>
              </a:rPr>
              <a:t>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75488" y="2049780"/>
            <a:ext cx="5495544" cy="199644"/>
          </a:xfrm>
          <a:prstGeom prst="roundRect">
            <a:avLst>
              <a:gd name="adj" fmla="val 8000"/>
            </a:avLst>
          </a:prstGeom>
          <a:solidFill>
            <a:srgbClr val="6366F1">
              <a:alpha val="26000"/>
            </a:srgbClr>
          </a:solidFill>
          <a:ln w="9525">
            <a:solidFill>
              <a:srgbClr val="818CF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411480" y="3979164"/>
            <a:ext cx="5623560" cy="457200"/>
          </a:xfrm>
          <a:prstGeom prst="roundRect">
            <a:avLst>
              <a:gd name="adj" fmla="val 12000"/>
            </a:avLst>
          </a:prstGeom>
          <a:solidFill>
            <a:srgbClr val="11163A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484632" y="4052316"/>
            <a:ext cx="1554480" cy="310896"/>
          </a:xfrm>
          <a:prstGeom prst="roundRect">
            <a:avLst>
              <a:gd name="adj" fmla="val 20000"/>
            </a:avLst>
          </a:prstGeom>
          <a:solidFill>
            <a:srgbClr val="1E1B4B"/>
          </a:solidFill>
          <a:ln w="9525">
            <a:solidFill>
              <a:srgbClr val="6366F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84632" y="4052316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2B6"/>
                </a:solidFill>
                <a:latin typeface="Courier New"/>
              </a:rPr>
              <a:t>&lt;p&gt;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48840" y="3979164"/>
            <a:ext cx="3813048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Arial"/>
              </a:rPr>
              <a:t>Parágrafo: um bloco de texto comum.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75120" y="3950208"/>
            <a:ext cx="416052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F2A1E"/>
                </a:solidFill>
                <a:latin typeface="Arial"/>
              </a:rPr>
              <a:t>Ninho com morango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927080" y="4018788"/>
            <a:ext cx="548640" cy="274320"/>
          </a:xfrm>
          <a:prstGeom prst="roundRect">
            <a:avLst>
              <a:gd name="adj" fmla="val 30000"/>
            </a:avLst>
          </a:prstGeom>
          <a:solidFill>
            <a:srgbClr val="FCE7F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927080" y="401878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D174D"/>
                </a:solidFill>
                <a:latin typeface="Courier New"/>
              </a:rPr>
              <a:t>h3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0" y="4407408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F2A1E"/>
                </a:solidFill>
                <a:latin typeface="Arial"/>
              </a:rPr>
              <a:t>Bolo de pote, 300 g.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927080" y="4453128"/>
            <a:ext cx="548640" cy="274320"/>
          </a:xfrm>
          <a:prstGeom prst="roundRect">
            <a:avLst>
              <a:gd name="adj" fmla="val 30000"/>
            </a:avLst>
          </a:prstGeom>
          <a:solidFill>
            <a:srgbClr val="FCE7F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927080" y="44531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D174D"/>
                </a:solidFill>
                <a:latin typeface="Courier New"/>
              </a:rPr>
              <a:t>p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675120" y="5138928"/>
            <a:ext cx="4389120" cy="274320"/>
          </a:xfrm>
          <a:prstGeom prst="roundRect">
            <a:avLst>
              <a:gd name="adj" fmla="val 30000"/>
            </a:avLst>
          </a:prstGeom>
          <a:solidFill>
            <a:srgbClr val="7C4A2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675120" y="5138928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Os títulos formam o índice da página, como num livro.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75488" y="2240280"/>
            <a:ext cx="5495544" cy="199644"/>
          </a:xfrm>
          <a:prstGeom prst="roundRect">
            <a:avLst>
              <a:gd name="adj" fmla="val 8000"/>
            </a:avLst>
          </a:prstGeom>
          <a:solidFill>
            <a:srgbClr val="6366F1">
              <a:alpha val="26000"/>
            </a:srgbClr>
          </a:solidFill>
          <a:ln w="9525">
            <a:solidFill>
              <a:srgbClr val="818CF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411480" y="4509516"/>
            <a:ext cx="5623560" cy="457200"/>
          </a:xfrm>
          <a:prstGeom prst="roundRect">
            <a:avLst>
              <a:gd name="adj" fmla="val 12000"/>
            </a:avLst>
          </a:prstGeom>
          <a:solidFill>
            <a:srgbClr val="11163A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484632" y="4582668"/>
            <a:ext cx="1554480" cy="310896"/>
          </a:xfrm>
          <a:prstGeom prst="roundRect">
            <a:avLst>
              <a:gd name="adj" fmla="val 20000"/>
            </a:avLst>
          </a:prstGeom>
          <a:solidFill>
            <a:srgbClr val="1E1B4B"/>
          </a:solidFill>
          <a:ln w="9525">
            <a:solidFill>
              <a:srgbClr val="6366F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84632" y="4582668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2B6"/>
                </a:solidFill>
                <a:latin typeface="Courier New"/>
              </a:rPr>
              <a:t>&lt;h3&gt;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48840" y="4509516"/>
            <a:ext cx="3813048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Arial"/>
              </a:rPr>
              <a:t>Um nível abaixo do h2. Não pule níveis: h1, depois h2, depois h3.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34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34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3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34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4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4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4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4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2" grpId="1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0" grpId="1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8" grpId="1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B1026"/>
            </a:gs>
            <a:gs pos="100000">
              <a:srgbClr val="1C1245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250">
                <a:solidFill>
                  <a:srgbClr val="C084FC"/>
                </a:solidFill>
                <a:latin typeface="Arial"/>
              </a:rPr>
              <a:t>03 · TEXTO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8FAFC"/>
                </a:solidFill>
                <a:latin typeface="Arial"/>
              </a:rPr>
              <a:t>&lt;strong&gt;, &lt;em&gt;, &lt;time&gt; e o &lt;b&gt;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280"/>
                </a:solidFill>
                <a:latin typeface="Arial"/>
              </a:rPr>
              <a:t>Guia das tags HTML · Linguagem de Marcação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280"/>
                </a:solidFill>
                <a:latin typeface="Arial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25880"/>
            <a:ext cx="5623560" cy="1464564"/>
          </a:xfrm>
          <a:prstGeom prst="roundRect">
            <a:avLst>
              <a:gd name="adj" fmla="val 4000"/>
            </a:avLst>
          </a:prstGeom>
          <a:solidFill>
            <a:srgbClr val="0E1230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57784" y="1444752"/>
            <a:ext cx="100584" cy="100584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13232" y="1444752"/>
            <a:ext cx="100584" cy="100584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68680" y="1444752"/>
            <a:ext cx="100584" cy="100584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1380744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4A3B8"/>
                </a:solidFill>
                <a:latin typeface="Courier New"/>
              </a:rPr>
              <a:t>index.html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" y="1673352"/>
            <a:ext cx="5440680" cy="9982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472B6"/>
                </a:solidFill>
                <a:latin typeface="Courier New"/>
              </a:rPr>
              <a:t>&lt;p&gt;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Bolo com 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&lt;strong&gt;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20% de desconto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&lt;/strong&gt;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.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&lt;/p&gt;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472B6"/>
                </a:solidFill>
                <a:latin typeface="Courier New"/>
              </a:rPr>
              <a:t>&lt;p&gt;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Você 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&lt;em&gt;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vai amar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&lt;/em&gt;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!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&lt;/p&gt;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472B6"/>
                </a:solidFill>
                <a:latin typeface="Courier New"/>
              </a:rPr>
              <a:t>&lt;p&gt;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Válido até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Courier New"/>
              </a:rPr>
              <a:t>  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&lt;time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FBBF24"/>
                </a:solidFill>
                <a:latin typeface="Courier New"/>
              </a:rPr>
              <a:t>datetime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=</a:t>
            </a:r>
            <a:r>
              <a:rPr sz="1050" b="0" i="0">
                <a:solidFill>
                  <a:srgbClr val="34D399"/>
                </a:solidFill>
                <a:latin typeface="Courier New"/>
              </a:rPr>
              <a:t>"2026-10-31"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&gt;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31 de outubro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&lt;/time&gt;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472B6"/>
                </a:solidFill>
                <a:latin typeface="Courier New"/>
              </a:rPr>
              <a:t>&lt;/p&gt;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325880"/>
            <a:ext cx="5532120" cy="4937760"/>
          </a:xfrm>
          <a:prstGeom prst="roundRect">
            <a:avLst>
              <a:gd name="adj" fmla="val 3000"/>
            </a:avLst>
          </a:prstGeom>
          <a:solidFill>
            <a:srgbClr val="1B2045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09944" y="1444752"/>
            <a:ext cx="100584" cy="100584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565392" y="1444752"/>
            <a:ext cx="100584" cy="100584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720840" y="1444752"/>
            <a:ext cx="100584" cy="100584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949440" y="1389888"/>
            <a:ext cx="4663440" cy="219456"/>
          </a:xfrm>
          <a:prstGeom prst="roundRect">
            <a:avLst>
              <a:gd name="adj" fmla="val 40000"/>
            </a:avLst>
          </a:prstGeom>
          <a:solidFill>
            <a:srgbClr val="0E123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86600" y="1389888"/>
            <a:ext cx="443484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4A3B8"/>
                </a:solidFill>
                <a:latin typeface="Courier New"/>
              </a:rPr>
              <a:t>docesabor.com.br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1709928"/>
            <a:ext cx="5349240" cy="4462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75120" y="1984248"/>
            <a:ext cx="480060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F2A1E"/>
                </a:solidFill>
                <a:latin typeface="Arial"/>
              </a:rPr>
              <a:t>Bolo com </a:t>
            </a:r>
            <a:r>
              <a:rPr sz="1600" b="1" i="0">
                <a:solidFill>
                  <a:srgbClr val="3F2A1E"/>
                </a:solidFill>
                <a:latin typeface="Arial"/>
              </a:rPr>
              <a:t>20% de desconto</a:t>
            </a:r>
            <a:r>
              <a:rPr sz="1600" b="0" i="0">
                <a:solidFill>
                  <a:srgbClr val="3F2A1E"/>
                </a:solidFill>
                <a:latin typeface="Arial"/>
              </a:rPr>
              <a:t>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26680" y="2441448"/>
            <a:ext cx="2103120" cy="274320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26680" y="2441448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2937"/>
                </a:solidFill>
                <a:latin typeface="Arial"/>
              </a:rPr>
              <a:t>importância: negrito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1668780"/>
            <a:ext cx="5495544" cy="199644"/>
          </a:xfrm>
          <a:prstGeom prst="roundRect">
            <a:avLst>
              <a:gd name="adj" fmla="val 8000"/>
            </a:avLst>
          </a:prstGeom>
          <a:solidFill>
            <a:srgbClr val="6366F1">
              <a:alpha val="26000"/>
            </a:srgbClr>
          </a:solidFill>
          <a:ln w="9525">
            <a:solidFill>
              <a:srgbClr val="818CF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11480" y="2918460"/>
            <a:ext cx="5623560" cy="530352"/>
          </a:xfrm>
          <a:prstGeom prst="roundRect">
            <a:avLst>
              <a:gd name="adj" fmla="val 12000"/>
            </a:avLst>
          </a:prstGeom>
          <a:solidFill>
            <a:srgbClr val="11163A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84632" y="2991612"/>
            <a:ext cx="1371600" cy="384048"/>
          </a:xfrm>
          <a:prstGeom prst="roundRect">
            <a:avLst>
              <a:gd name="adj" fmla="val 20000"/>
            </a:avLst>
          </a:prstGeom>
          <a:solidFill>
            <a:srgbClr val="1E1B4B"/>
          </a:solidFill>
          <a:ln w="9525">
            <a:solidFill>
              <a:srgbClr val="6366F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4632" y="2991612"/>
            <a:ext cx="13716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2B6"/>
                </a:solidFill>
                <a:latin typeface="Courier New"/>
              </a:rPr>
              <a:t>&lt;strong&gt;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65960" y="2918460"/>
            <a:ext cx="3995928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Arial"/>
              </a:rPr>
              <a:t>Importância. Aparece em negrito e o leitor de tela fala com mais força.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2944368"/>
            <a:ext cx="480060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F2A1E"/>
                </a:solidFill>
                <a:latin typeface="Arial"/>
              </a:rPr>
              <a:t>Você </a:t>
            </a:r>
            <a:r>
              <a:rPr sz="1600" b="0" i="1">
                <a:solidFill>
                  <a:srgbClr val="3F2A1E"/>
                </a:solidFill>
                <a:latin typeface="Arial"/>
              </a:rPr>
              <a:t>vai amar</a:t>
            </a:r>
            <a:r>
              <a:rPr sz="1600" b="0" i="0">
                <a:solidFill>
                  <a:srgbClr val="3F2A1E"/>
                </a:solidFill>
                <a:latin typeface="Arial"/>
              </a:rPr>
              <a:t>!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23760" y="3401568"/>
            <a:ext cx="1828800" cy="274320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223760" y="340156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2937"/>
                </a:solidFill>
                <a:latin typeface="Arial"/>
              </a:rPr>
              <a:t>ênfase: itálico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1859280"/>
            <a:ext cx="5495544" cy="199644"/>
          </a:xfrm>
          <a:prstGeom prst="roundRect">
            <a:avLst>
              <a:gd name="adj" fmla="val 8000"/>
            </a:avLst>
          </a:prstGeom>
          <a:solidFill>
            <a:srgbClr val="6366F1">
              <a:alpha val="26000"/>
            </a:srgbClr>
          </a:solidFill>
          <a:ln w="9525">
            <a:solidFill>
              <a:srgbClr val="818CF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411480" y="3521964"/>
            <a:ext cx="5623560" cy="530352"/>
          </a:xfrm>
          <a:prstGeom prst="roundRect">
            <a:avLst>
              <a:gd name="adj" fmla="val 12000"/>
            </a:avLst>
          </a:prstGeom>
          <a:solidFill>
            <a:srgbClr val="11163A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484632" y="3595116"/>
            <a:ext cx="1371600" cy="384048"/>
          </a:xfrm>
          <a:prstGeom prst="roundRect">
            <a:avLst>
              <a:gd name="adj" fmla="val 20000"/>
            </a:avLst>
          </a:prstGeom>
          <a:solidFill>
            <a:srgbClr val="1E1B4B"/>
          </a:solidFill>
          <a:ln w="9525">
            <a:solidFill>
              <a:srgbClr val="6366F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84632" y="3595116"/>
            <a:ext cx="13716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2B6"/>
                </a:solidFill>
                <a:latin typeface="Courier New"/>
              </a:rPr>
              <a:t>&lt;em&gt;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65960" y="3521964"/>
            <a:ext cx="3995928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Arial"/>
              </a:rPr>
              <a:t>Ênfase. Aparece em itálico, como quando a gente fala uma palavra com mais força.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3904488"/>
            <a:ext cx="480060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F2A1E"/>
                </a:solidFill>
                <a:latin typeface="Arial"/>
              </a:rPr>
              <a:t>Válido até 31 de outubro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92440" y="4361688"/>
            <a:ext cx="2377440" cy="292608"/>
          </a:xfrm>
          <a:prstGeom prst="roundRect">
            <a:avLst>
              <a:gd name="adj" fmla="val 30000"/>
            </a:avLst>
          </a:prstGeom>
          <a:solidFill>
            <a:srgbClr val="1E1B4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092440" y="4361688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4D399"/>
                </a:solidFill>
                <a:latin typeface="Courier New"/>
              </a:rPr>
              <a:t>máquina lê: 2026-10-31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75488" y="2049780"/>
            <a:ext cx="5495544" cy="580644"/>
          </a:xfrm>
          <a:prstGeom prst="roundRect">
            <a:avLst>
              <a:gd name="adj" fmla="val 8000"/>
            </a:avLst>
          </a:prstGeom>
          <a:solidFill>
            <a:srgbClr val="6366F1">
              <a:alpha val="26000"/>
            </a:srgbClr>
          </a:solidFill>
          <a:ln w="9525">
            <a:solidFill>
              <a:srgbClr val="818CF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411480" y="4125468"/>
            <a:ext cx="5623560" cy="530352"/>
          </a:xfrm>
          <a:prstGeom prst="roundRect">
            <a:avLst>
              <a:gd name="adj" fmla="val 12000"/>
            </a:avLst>
          </a:prstGeom>
          <a:solidFill>
            <a:srgbClr val="11163A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484632" y="4198620"/>
            <a:ext cx="1371600" cy="384048"/>
          </a:xfrm>
          <a:prstGeom prst="roundRect">
            <a:avLst>
              <a:gd name="adj" fmla="val 20000"/>
            </a:avLst>
          </a:prstGeom>
          <a:solidFill>
            <a:srgbClr val="1E1B4B"/>
          </a:solidFill>
          <a:ln w="9525">
            <a:solidFill>
              <a:srgbClr val="6366F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84632" y="4198620"/>
            <a:ext cx="13716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2B6"/>
                </a:solidFill>
                <a:latin typeface="Courier New"/>
              </a:rPr>
              <a:t>&lt;time&gt;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65960" y="4125468"/>
            <a:ext cx="3995928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Arial"/>
              </a:rPr>
              <a:t>Uma data. A pessoa lê "31 de outubro" e o computador lê o datetime.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675120" y="4864608"/>
            <a:ext cx="4709160" cy="10515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812280" y="4910328"/>
            <a:ext cx="44348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C2626"/>
                </a:solidFill>
                <a:latin typeface="Courier New"/>
              </a:rPr>
              <a:t>&lt;b&gt;</a:t>
            </a:r>
            <a:r>
              <a:rPr sz="1100" b="0" i="0">
                <a:solidFill>
                  <a:srgbClr val="1F2937"/>
                </a:solidFill>
                <a:latin typeface="Arial"/>
              </a:rPr>
              <a:t>  só visual: o leitor de tela lê normal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12280" y="5367528"/>
            <a:ext cx="44348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A34A"/>
                </a:solidFill>
                <a:latin typeface="Courier New"/>
              </a:rPr>
              <a:t>&lt;strong&gt;</a:t>
            </a:r>
            <a:r>
              <a:rPr sz="1100" b="0" i="0">
                <a:solidFill>
                  <a:srgbClr val="1F2937"/>
                </a:solidFill>
                <a:latin typeface="Arial"/>
              </a:rPr>
              <a:t>  diz que o trecho é importante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11480" y="4728972"/>
            <a:ext cx="5623560" cy="530352"/>
          </a:xfrm>
          <a:prstGeom prst="roundRect">
            <a:avLst>
              <a:gd name="adj" fmla="val 12000"/>
            </a:avLst>
          </a:prstGeom>
          <a:solidFill>
            <a:srgbClr val="11163A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484632" y="4802124"/>
            <a:ext cx="1371600" cy="384048"/>
          </a:xfrm>
          <a:prstGeom prst="roundRect">
            <a:avLst>
              <a:gd name="adj" fmla="val 20000"/>
            </a:avLst>
          </a:prstGeom>
          <a:solidFill>
            <a:srgbClr val="1E1B4B"/>
          </a:solidFill>
          <a:ln w="9525">
            <a:solidFill>
              <a:srgbClr val="6366F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84632" y="4802124"/>
            <a:ext cx="13716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2B6"/>
                </a:solidFill>
                <a:latin typeface="Courier New"/>
              </a:rPr>
              <a:t>&lt;b&gt; e &lt;i&gt;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65960" y="4728972"/>
            <a:ext cx="3995928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Arial"/>
              </a:rPr>
              <a:t>Só deixam negrito e itálico na tela, sem significado. Prefira &lt;strong&gt; e &lt;em&gt;.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34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34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3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34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4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4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2" grpId="1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0" grpId="1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8" grpId="1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B1026"/>
            </a:gs>
            <a:gs pos="100000">
              <a:srgbClr val="1C1245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250">
                <a:solidFill>
                  <a:srgbClr val="C084FC"/>
                </a:solidFill>
                <a:latin typeface="Arial"/>
              </a:rPr>
              <a:t>04 · LINKS E CONTATO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8FAFC"/>
                </a:solidFill>
                <a:latin typeface="Arial"/>
              </a:rPr>
              <a:t>&lt;a href&gt;: os links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280"/>
                </a:solidFill>
                <a:latin typeface="Arial"/>
              </a:rPr>
              <a:t>Guia das tags HTML · Linguagem de Marcação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280"/>
                </a:solidFill>
                <a:latin typeface="Arial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25880"/>
            <a:ext cx="5623560" cy="1274064"/>
          </a:xfrm>
          <a:prstGeom prst="roundRect">
            <a:avLst>
              <a:gd name="adj" fmla="val 4000"/>
            </a:avLst>
          </a:prstGeom>
          <a:solidFill>
            <a:srgbClr val="0E1230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57784" y="1444752"/>
            <a:ext cx="100584" cy="100584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13232" y="1444752"/>
            <a:ext cx="100584" cy="100584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68680" y="1444752"/>
            <a:ext cx="100584" cy="100584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1380744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4A3B8"/>
                </a:solidFill>
                <a:latin typeface="Courier New"/>
              </a:rPr>
              <a:t>index.html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" y="1673352"/>
            <a:ext cx="5440680" cy="8077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472B6"/>
                </a:solidFill>
                <a:latin typeface="Courier New"/>
              </a:rPr>
              <a:t>&lt;a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FBBF24"/>
                </a:solidFill>
                <a:latin typeface="Courier New"/>
              </a:rPr>
              <a:t>href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=</a:t>
            </a:r>
            <a:r>
              <a:rPr sz="1050" b="0" i="0">
                <a:solidFill>
                  <a:srgbClr val="34D399"/>
                </a:solidFill>
                <a:latin typeface="Courier New"/>
              </a:rPr>
              <a:t>"cardapio.html"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&gt;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Cardápio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&lt;/a&gt;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472B6"/>
                </a:solidFill>
                <a:latin typeface="Courier New"/>
              </a:rPr>
              <a:t>&lt;a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FBBF24"/>
                </a:solidFill>
                <a:latin typeface="Courier New"/>
              </a:rPr>
              <a:t>href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=</a:t>
            </a:r>
            <a:r>
              <a:rPr sz="1050" b="0" i="0">
                <a:solidFill>
                  <a:srgbClr val="34D399"/>
                </a:solidFill>
                <a:latin typeface="Courier New"/>
              </a:rPr>
              <a:t>"https://instagram.com/docesabor"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&gt;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Instagram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&lt;/a&gt;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472B6"/>
                </a:solidFill>
                <a:latin typeface="Courier New"/>
              </a:rPr>
              <a:t>&lt;a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FBBF24"/>
                </a:solidFill>
                <a:latin typeface="Courier New"/>
              </a:rPr>
              <a:t>href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=</a:t>
            </a:r>
            <a:r>
              <a:rPr sz="1050" b="0" i="0">
                <a:solidFill>
                  <a:srgbClr val="34D399"/>
                </a:solidFill>
                <a:latin typeface="Courier New"/>
              </a:rPr>
              <a:t>"mailto:contato@docesabor.com"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&gt;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E-mail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&lt;/a&gt;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472B6"/>
                </a:solidFill>
                <a:latin typeface="Courier New"/>
              </a:rPr>
              <a:t>&lt;a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FBBF24"/>
                </a:solidFill>
                <a:latin typeface="Courier New"/>
              </a:rPr>
              <a:t>href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=</a:t>
            </a:r>
            <a:r>
              <a:rPr sz="1050" b="0" i="0">
                <a:solidFill>
                  <a:srgbClr val="34D399"/>
                </a:solidFill>
                <a:latin typeface="Courier New"/>
              </a:rPr>
              <a:t>"tel:+551140001234"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&gt;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(11) 4000-1234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&lt;/a&gt;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325880"/>
            <a:ext cx="5532120" cy="4937760"/>
          </a:xfrm>
          <a:prstGeom prst="roundRect">
            <a:avLst>
              <a:gd name="adj" fmla="val 3000"/>
            </a:avLst>
          </a:prstGeom>
          <a:solidFill>
            <a:srgbClr val="1B2045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09944" y="1444752"/>
            <a:ext cx="100584" cy="100584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565392" y="1444752"/>
            <a:ext cx="100584" cy="100584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720840" y="1444752"/>
            <a:ext cx="100584" cy="100584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949440" y="1389888"/>
            <a:ext cx="4663440" cy="219456"/>
          </a:xfrm>
          <a:prstGeom prst="roundRect">
            <a:avLst>
              <a:gd name="adj" fmla="val 40000"/>
            </a:avLst>
          </a:prstGeom>
          <a:solidFill>
            <a:srgbClr val="0E123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86600" y="1389888"/>
            <a:ext cx="443484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4A3B8"/>
                </a:solidFill>
                <a:latin typeface="Courier New"/>
              </a:rPr>
              <a:t>docesabor.com.br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1709928"/>
            <a:ext cx="5349240" cy="4462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20840" y="2029968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u="sng">
                <a:solidFill>
                  <a:srgbClr val="BE185D"/>
                </a:solidFill>
                <a:latin typeface="Arial"/>
              </a:rPr>
              <a:t>Cardápio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15400" y="2093976"/>
            <a:ext cx="2423160" cy="274320"/>
          </a:xfrm>
          <a:prstGeom prst="roundRect">
            <a:avLst>
              <a:gd name="adj" fmla="val 30000"/>
            </a:avLst>
          </a:prstGeom>
          <a:solidFill>
            <a:srgbClr val="FCE7F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15400" y="2093976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D174D"/>
                </a:solidFill>
                <a:latin typeface="Arial"/>
              </a:rPr>
              <a:t>abre cardapio.html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1668780"/>
            <a:ext cx="5495544" cy="199644"/>
          </a:xfrm>
          <a:prstGeom prst="roundRect">
            <a:avLst>
              <a:gd name="adj" fmla="val 8000"/>
            </a:avLst>
          </a:prstGeom>
          <a:solidFill>
            <a:srgbClr val="6366F1">
              <a:alpha val="26000"/>
            </a:srgbClr>
          </a:solidFill>
          <a:ln w="9525">
            <a:solidFill>
              <a:srgbClr val="818CF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11480" y="2727960"/>
            <a:ext cx="5623560" cy="548640"/>
          </a:xfrm>
          <a:prstGeom prst="roundRect">
            <a:avLst>
              <a:gd name="adj" fmla="val 12000"/>
            </a:avLst>
          </a:prstGeom>
          <a:solidFill>
            <a:srgbClr val="11163A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84632" y="2801112"/>
            <a:ext cx="1600200" cy="402336"/>
          </a:xfrm>
          <a:prstGeom prst="roundRect">
            <a:avLst>
              <a:gd name="adj" fmla="val 20000"/>
            </a:avLst>
          </a:prstGeom>
          <a:solidFill>
            <a:srgbClr val="1E1B4B"/>
          </a:solidFill>
          <a:ln w="9525">
            <a:solidFill>
              <a:srgbClr val="6366F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4632" y="2801112"/>
            <a:ext cx="160020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2B6"/>
                </a:solidFill>
                <a:latin typeface="Courier New"/>
              </a:rPr>
              <a:t>cardapio.html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2727960"/>
            <a:ext cx="3767328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Arial"/>
              </a:rPr>
              <a:t>Link para outra página do mesmo site.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2670048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u="sng">
                <a:solidFill>
                  <a:srgbClr val="BE185D"/>
                </a:solidFill>
                <a:latin typeface="Arial"/>
              </a:rPr>
              <a:t>Instagram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15400" y="2734056"/>
            <a:ext cx="2423160" cy="274320"/>
          </a:xfrm>
          <a:prstGeom prst="roundRect">
            <a:avLst>
              <a:gd name="adj" fmla="val 30000"/>
            </a:avLst>
          </a:prstGeom>
          <a:solidFill>
            <a:srgbClr val="FCE7F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915400" y="2734056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D174D"/>
                </a:solidFill>
                <a:latin typeface="Arial"/>
              </a:rPr>
              <a:t>abre o Instagram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1859280"/>
            <a:ext cx="5495544" cy="199644"/>
          </a:xfrm>
          <a:prstGeom prst="roundRect">
            <a:avLst>
              <a:gd name="adj" fmla="val 8000"/>
            </a:avLst>
          </a:prstGeom>
          <a:solidFill>
            <a:srgbClr val="6366F1">
              <a:alpha val="26000"/>
            </a:srgbClr>
          </a:solidFill>
          <a:ln w="9525">
            <a:solidFill>
              <a:srgbClr val="818CF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411480" y="3349752"/>
            <a:ext cx="5623560" cy="548640"/>
          </a:xfrm>
          <a:prstGeom prst="roundRect">
            <a:avLst>
              <a:gd name="adj" fmla="val 12000"/>
            </a:avLst>
          </a:prstGeom>
          <a:solidFill>
            <a:srgbClr val="11163A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484632" y="3422904"/>
            <a:ext cx="1600200" cy="402336"/>
          </a:xfrm>
          <a:prstGeom prst="roundRect">
            <a:avLst>
              <a:gd name="adj" fmla="val 20000"/>
            </a:avLst>
          </a:prstGeom>
          <a:solidFill>
            <a:srgbClr val="1E1B4B"/>
          </a:solidFill>
          <a:ln w="9525">
            <a:solidFill>
              <a:srgbClr val="6366F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84632" y="3422904"/>
            <a:ext cx="160020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2B6"/>
                </a:solidFill>
                <a:latin typeface="Courier New"/>
              </a:rPr>
              <a:t>https://...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94560" y="3349752"/>
            <a:ext cx="3767328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Arial"/>
              </a:rPr>
              <a:t>Link para um site de fora. Use o endereço completo, com https://.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3310128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u="sng">
                <a:solidFill>
                  <a:srgbClr val="BE185D"/>
                </a:solidFill>
                <a:latin typeface="Arial"/>
              </a:rPr>
              <a:t>E-mail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15400" y="3374136"/>
            <a:ext cx="2423160" cy="274320"/>
          </a:xfrm>
          <a:prstGeom prst="roundRect">
            <a:avLst>
              <a:gd name="adj" fmla="val 30000"/>
            </a:avLst>
          </a:prstGeom>
          <a:solidFill>
            <a:srgbClr val="FCE7F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915400" y="3374136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D174D"/>
                </a:solidFill>
                <a:latin typeface="Arial"/>
              </a:rPr>
              <a:t>abre o app de e-mail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75488" y="2049780"/>
            <a:ext cx="5495544" cy="199644"/>
          </a:xfrm>
          <a:prstGeom prst="roundRect">
            <a:avLst>
              <a:gd name="adj" fmla="val 8000"/>
            </a:avLst>
          </a:prstGeom>
          <a:solidFill>
            <a:srgbClr val="6366F1">
              <a:alpha val="26000"/>
            </a:srgbClr>
          </a:solidFill>
          <a:ln w="9525">
            <a:solidFill>
              <a:srgbClr val="818CF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411480" y="3971544"/>
            <a:ext cx="5623560" cy="548640"/>
          </a:xfrm>
          <a:prstGeom prst="roundRect">
            <a:avLst>
              <a:gd name="adj" fmla="val 12000"/>
            </a:avLst>
          </a:prstGeom>
          <a:solidFill>
            <a:srgbClr val="11163A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484632" y="4044696"/>
            <a:ext cx="1600200" cy="402336"/>
          </a:xfrm>
          <a:prstGeom prst="roundRect">
            <a:avLst>
              <a:gd name="adj" fmla="val 20000"/>
            </a:avLst>
          </a:prstGeom>
          <a:solidFill>
            <a:srgbClr val="1E1B4B"/>
          </a:solidFill>
          <a:ln w="9525">
            <a:solidFill>
              <a:srgbClr val="6366F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84632" y="4044696"/>
            <a:ext cx="160020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2B6"/>
                </a:solidFill>
                <a:latin typeface="Courier New"/>
              </a:rPr>
              <a:t>mailto: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94560" y="3971544"/>
            <a:ext cx="3767328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Arial"/>
              </a:rPr>
              <a:t>Abre o aplicativo de e-mail já com o destinatário preenchido.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75320" y="4681728"/>
            <a:ext cx="1371600" cy="1325880"/>
          </a:xfrm>
          <a:prstGeom prst="roundRect">
            <a:avLst>
              <a:gd name="adj" fmla="val 12000"/>
            </a:avLst>
          </a:prstGeom>
          <a:solidFill>
            <a:srgbClr val="11182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339328" y="4754880"/>
            <a:ext cx="1243584" cy="1179576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339328" y="4818888"/>
            <a:ext cx="124358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4B5563"/>
                </a:solidFill>
                <a:latin typeface="Arial"/>
              </a:rPr>
              <a:t>Ligar para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39328" y="5047488"/>
            <a:ext cx="1243584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2937"/>
                </a:solidFill>
                <a:latin typeface="Arial"/>
              </a:rPr>
              <a:t>(11) 4000-1234</a:t>
            </a:r>
          </a:p>
        </p:txBody>
      </p:sp>
      <p:sp>
        <p:nvSpPr>
          <p:cNvPr id="47" name="Oval 46"/>
          <p:cNvSpPr/>
          <p:nvPr/>
        </p:nvSpPr>
        <p:spPr>
          <a:xfrm>
            <a:off x="8750808" y="5413248"/>
            <a:ext cx="420624" cy="420624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750808" y="541324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Arial"/>
              </a:rPr>
              <a:t>ligar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20840" y="3950208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u="sng">
                <a:solidFill>
                  <a:srgbClr val="BE185D"/>
                </a:solidFill>
                <a:latin typeface="Arial"/>
              </a:rPr>
              <a:t>(11) 4000-1234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915400" y="4014216"/>
            <a:ext cx="2423160" cy="274320"/>
          </a:xfrm>
          <a:prstGeom prst="roundRect">
            <a:avLst>
              <a:gd name="adj" fmla="val 30000"/>
            </a:avLst>
          </a:prstGeom>
          <a:solidFill>
            <a:srgbClr val="FCE7F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915400" y="4014216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D174D"/>
                </a:solidFill>
                <a:latin typeface="Arial"/>
              </a:rPr>
              <a:t>no celular: abre a ligação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75488" y="2240280"/>
            <a:ext cx="5495544" cy="199644"/>
          </a:xfrm>
          <a:prstGeom prst="roundRect">
            <a:avLst>
              <a:gd name="adj" fmla="val 8000"/>
            </a:avLst>
          </a:prstGeom>
          <a:solidFill>
            <a:srgbClr val="6366F1">
              <a:alpha val="26000"/>
            </a:srgbClr>
          </a:solidFill>
          <a:ln w="9525">
            <a:solidFill>
              <a:srgbClr val="818CF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411480" y="4593336"/>
            <a:ext cx="5623560" cy="548640"/>
          </a:xfrm>
          <a:prstGeom prst="roundRect">
            <a:avLst>
              <a:gd name="adj" fmla="val 12000"/>
            </a:avLst>
          </a:prstGeom>
          <a:solidFill>
            <a:srgbClr val="11163A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484632" y="4666488"/>
            <a:ext cx="1600200" cy="402336"/>
          </a:xfrm>
          <a:prstGeom prst="roundRect">
            <a:avLst>
              <a:gd name="adj" fmla="val 20000"/>
            </a:avLst>
          </a:prstGeom>
          <a:solidFill>
            <a:srgbClr val="1E1B4B"/>
          </a:solidFill>
          <a:ln w="9525">
            <a:solidFill>
              <a:srgbClr val="6366F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84632" y="4666488"/>
            <a:ext cx="160020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2B6"/>
                </a:solidFill>
                <a:latin typeface="Courier New"/>
              </a:rPr>
              <a:t>tel: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194560" y="4593336"/>
            <a:ext cx="3767328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Arial"/>
              </a:rPr>
              <a:t>No celular, já abre a ligação. Use o número só com dígitos, com +55 e o DDD.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34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34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3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34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4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4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4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4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2" grpId="1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0" grpId="1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8" grpId="1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B1026"/>
            </a:gs>
            <a:gs pos="100000">
              <a:srgbClr val="1C1245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250">
                <a:solidFill>
                  <a:srgbClr val="C084FC"/>
                </a:solidFill>
                <a:latin typeface="Arial"/>
              </a:rPr>
              <a:t>04 · LINKS E CONTATO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8FAFC"/>
                </a:solidFill>
                <a:latin typeface="Arial"/>
              </a:rPr>
              <a:t>&lt;footer&gt;, &lt;address&gt; e as entidades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280"/>
                </a:solidFill>
                <a:latin typeface="Arial"/>
              </a:rPr>
              <a:t>Guia das tags HTML · Linguagem de Marcação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280"/>
                </a:solidFill>
                <a:latin typeface="Arial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25880"/>
            <a:ext cx="5623560" cy="2036064"/>
          </a:xfrm>
          <a:prstGeom prst="roundRect">
            <a:avLst>
              <a:gd name="adj" fmla="val 4000"/>
            </a:avLst>
          </a:prstGeom>
          <a:solidFill>
            <a:srgbClr val="0E1230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57784" y="1444752"/>
            <a:ext cx="100584" cy="100584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13232" y="1444752"/>
            <a:ext cx="100584" cy="100584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68680" y="1444752"/>
            <a:ext cx="100584" cy="100584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1380744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4A3B8"/>
                </a:solidFill>
                <a:latin typeface="Courier New"/>
              </a:rPr>
              <a:t>index.html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" y="1673352"/>
            <a:ext cx="5440680" cy="15697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472B6"/>
                </a:solidFill>
                <a:latin typeface="Courier New"/>
              </a:rPr>
              <a:t>&lt;footer&gt;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Courier New"/>
              </a:rPr>
              <a:t>  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&lt;p&gt;</a:t>
            </a:r>
            <a:r>
              <a:rPr sz="1050" b="0" i="0">
                <a:solidFill>
                  <a:srgbClr val="60A5FA"/>
                </a:solidFill>
                <a:latin typeface="Courier New"/>
              </a:rPr>
              <a:t>&amp;copy;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 2026 Doce Sabor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&lt;/p&gt;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Courier New"/>
              </a:rPr>
              <a:t>  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&lt;address&gt;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Courier New"/>
              </a:rPr>
              <a:t>    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&lt;a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FBBF24"/>
                </a:solidFill>
                <a:latin typeface="Courier New"/>
              </a:rPr>
              <a:t>href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=</a:t>
            </a:r>
            <a:r>
              <a:rPr sz="1050" b="0" i="0">
                <a:solidFill>
                  <a:srgbClr val="34D399"/>
                </a:solidFill>
                <a:latin typeface="Courier New"/>
              </a:rPr>
              <a:t>"mailto:contato@docesabor.com"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&gt;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Courier New"/>
              </a:rPr>
              <a:t>      contato@docesabor.com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&lt;/a&gt;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Courier New"/>
              </a:rPr>
              <a:t>    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&lt;a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FBBF24"/>
                </a:solidFill>
                <a:latin typeface="Courier New"/>
              </a:rPr>
              <a:t>href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=</a:t>
            </a:r>
            <a:r>
              <a:rPr sz="1050" b="0" i="0">
                <a:solidFill>
                  <a:srgbClr val="34D399"/>
                </a:solidFill>
                <a:latin typeface="Courier New"/>
              </a:rPr>
              <a:t>"tel:+551140001234"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&gt;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(11) 4000-1234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&lt;/a&gt;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Courier New"/>
              </a:rPr>
              <a:t>  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&lt;/address&gt;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472B6"/>
                </a:solidFill>
                <a:latin typeface="Courier New"/>
              </a:rPr>
              <a:t>&lt;/footer&gt;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325880"/>
            <a:ext cx="5532120" cy="4937760"/>
          </a:xfrm>
          <a:prstGeom prst="roundRect">
            <a:avLst>
              <a:gd name="adj" fmla="val 3000"/>
            </a:avLst>
          </a:prstGeom>
          <a:solidFill>
            <a:srgbClr val="1B2045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09944" y="1444752"/>
            <a:ext cx="100584" cy="100584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565392" y="1444752"/>
            <a:ext cx="100584" cy="100584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720840" y="1444752"/>
            <a:ext cx="100584" cy="100584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949440" y="1389888"/>
            <a:ext cx="4663440" cy="219456"/>
          </a:xfrm>
          <a:prstGeom prst="roundRect">
            <a:avLst>
              <a:gd name="adj" fmla="val 40000"/>
            </a:avLst>
          </a:prstGeom>
          <a:solidFill>
            <a:srgbClr val="0E123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86600" y="1389888"/>
            <a:ext cx="443484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4A3B8"/>
                </a:solidFill>
                <a:latin typeface="Courier New"/>
              </a:rPr>
              <a:t>docesabor.com.br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1709928"/>
            <a:ext cx="5349240" cy="4462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55080" y="1709928"/>
            <a:ext cx="5349240" cy="4462272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629400" y="1984248"/>
            <a:ext cx="48006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BCFE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29400" y="1984248"/>
            <a:ext cx="4800600" cy="1463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C4A99A"/>
                </a:solidFill>
                <a:latin typeface="Arial"/>
              </a:rPr>
              <a:t>conteúdo da página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3721608"/>
            <a:ext cx="5349240" cy="2450592"/>
          </a:xfrm>
          <a:prstGeom prst="rect">
            <a:avLst/>
          </a:prstGeom>
          <a:solidFill>
            <a:srgbClr val="3F2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29400" y="381304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6B8A6"/>
                </a:solidFill>
                <a:latin typeface="Courier New"/>
              </a:rPr>
              <a:t>&lt;footer&gt;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1668780"/>
            <a:ext cx="5495544" cy="1533144"/>
          </a:xfrm>
          <a:prstGeom prst="roundRect">
            <a:avLst>
              <a:gd name="adj" fmla="val 8000"/>
            </a:avLst>
          </a:prstGeom>
          <a:solidFill>
            <a:srgbClr val="6366F1">
              <a:alpha val="26000"/>
            </a:srgbClr>
          </a:solidFill>
          <a:ln w="9525">
            <a:solidFill>
              <a:srgbClr val="818CF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11480" y="3489960"/>
            <a:ext cx="5623560" cy="548640"/>
          </a:xfrm>
          <a:prstGeom prst="roundRect">
            <a:avLst>
              <a:gd name="adj" fmla="val 12000"/>
            </a:avLst>
          </a:prstGeom>
          <a:solidFill>
            <a:srgbClr val="11163A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84632" y="3563112"/>
            <a:ext cx="1554480" cy="402336"/>
          </a:xfrm>
          <a:prstGeom prst="roundRect">
            <a:avLst>
              <a:gd name="adj" fmla="val 20000"/>
            </a:avLst>
          </a:prstGeom>
          <a:solidFill>
            <a:srgbClr val="1E1B4B"/>
          </a:solidFill>
          <a:ln w="9525">
            <a:solidFill>
              <a:srgbClr val="6366F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4632" y="3563112"/>
            <a:ext cx="155448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2B6"/>
                </a:solidFill>
                <a:latin typeface="Courier New"/>
              </a:rPr>
              <a:t>&lt;footer&gt;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48840" y="3489960"/>
            <a:ext cx="3813048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Arial"/>
              </a:rPr>
              <a:t>O rodapé: fica no fim da página, com os direitos e o contato.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4224528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7ED"/>
                </a:solidFill>
                <a:latin typeface="Arial"/>
              </a:rPr>
              <a:t>© 2026 Doce Sabor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4636008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0A5FA"/>
                </a:solidFill>
                <a:latin typeface="Courier New"/>
              </a:rPr>
              <a:t>&amp;copy;</a:t>
            </a:r>
            <a:r>
              <a:rPr sz="1100" b="0" i="0">
                <a:solidFill>
                  <a:srgbClr val="E7D5C9"/>
                </a:solidFill>
                <a:latin typeface="Arial"/>
              </a:rPr>
              <a:t>  →  ©        </a:t>
            </a:r>
            <a:r>
              <a:rPr sz="1100" b="0" i="0">
                <a:solidFill>
                  <a:srgbClr val="60A5FA"/>
                </a:solidFill>
                <a:latin typeface="Courier New"/>
              </a:rPr>
              <a:t>&amp;bull;</a:t>
            </a:r>
            <a:r>
              <a:rPr sz="1100" b="0" i="0">
                <a:solidFill>
                  <a:srgbClr val="E7D5C9"/>
                </a:solidFill>
                <a:latin typeface="Arial"/>
              </a:rPr>
              <a:t>  →  •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1859280"/>
            <a:ext cx="5495544" cy="199644"/>
          </a:xfrm>
          <a:prstGeom prst="roundRect">
            <a:avLst>
              <a:gd name="adj" fmla="val 8000"/>
            </a:avLst>
          </a:prstGeom>
          <a:solidFill>
            <a:srgbClr val="6366F1">
              <a:alpha val="26000"/>
            </a:srgbClr>
          </a:solidFill>
          <a:ln w="9525">
            <a:solidFill>
              <a:srgbClr val="818CF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411480" y="4111752"/>
            <a:ext cx="5623560" cy="548640"/>
          </a:xfrm>
          <a:prstGeom prst="roundRect">
            <a:avLst>
              <a:gd name="adj" fmla="val 12000"/>
            </a:avLst>
          </a:prstGeom>
          <a:solidFill>
            <a:srgbClr val="11163A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484632" y="4184904"/>
            <a:ext cx="1554480" cy="402336"/>
          </a:xfrm>
          <a:prstGeom prst="roundRect">
            <a:avLst>
              <a:gd name="adj" fmla="val 20000"/>
            </a:avLst>
          </a:prstGeom>
          <a:solidFill>
            <a:srgbClr val="1E1B4B"/>
          </a:solidFill>
          <a:ln w="9525">
            <a:solidFill>
              <a:srgbClr val="6366F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84632" y="4184904"/>
            <a:ext cx="155448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2B6"/>
                </a:solidFill>
                <a:latin typeface="Courier New"/>
              </a:rPr>
              <a:t>&amp;copy; &amp;bull;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48840" y="4111752"/>
            <a:ext cx="3813048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Arial"/>
              </a:rPr>
              <a:t>Entidades: códigos que viram símbolos. Começam com &amp; e terminam com ;.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5093208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1" u="sng">
                <a:solidFill>
                  <a:srgbClr val="F9A8D4"/>
                </a:solidFill>
                <a:latin typeface="Arial"/>
              </a:rPr>
              <a:t>contato@docesabor.com</a:t>
            </a:r>
            <a:r>
              <a:rPr sz="1150" b="0" i="0">
                <a:solidFill>
                  <a:srgbClr val="E7D5C9"/>
                </a:solidFill>
                <a:latin typeface="Arial"/>
              </a:rPr>
              <a:t>   •   </a:t>
            </a:r>
            <a:r>
              <a:rPr sz="1150" b="0" i="1" u="sng">
                <a:solidFill>
                  <a:srgbClr val="F9A8D4"/>
                </a:solidFill>
                <a:latin typeface="Arial"/>
              </a:rPr>
              <a:t>(11) 4000-1234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680960" y="5596128"/>
            <a:ext cx="2697480" cy="274320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680960" y="5596128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2937"/>
                </a:solidFill>
                <a:latin typeface="Arial"/>
              </a:rPr>
              <a:t>address: o contato, em itálico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75488" y="2049780"/>
            <a:ext cx="5495544" cy="961644"/>
          </a:xfrm>
          <a:prstGeom prst="roundRect">
            <a:avLst>
              <a:gd name="adj" fmla="val 8000"/>
            </a:avLst>
          </a:prstGeom>
          <a:solidFill>
            <a:srgbClr val="6366F1">
              <a:alpha val="26000"/>
            </a:srgbClr>
          </a:solidFill>
          <a:ln w="9525">
            <a:solidFill>
              <a:srgbClr val="818CF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411480" y="4733544"/>
            <a:ext cx="5623560" cy="548640"/>
          </a:xfrm>
          <a:prstGeom prst="roundRect">
            <a:avLst>
              <a:gd name="adj" fmla="val 12000"/>
            </a:avLst>
          </a:prstGeom>
          <a:solidFill>
            <a:srgbClr val="11163A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484632" y="4806696"/>
            <a:ext cx="1554480" cy="402336"/>
          </a:xfrm>
          <a:prstGeom prst="roundRect">
            <a:avLst>
              <a:gd name="adj" fmla="val 20000"/>
            </a:avLst>
          </a:prstGeom>
          <a:solidFill>
            <a:srgbClr val="1E1B4B"/>
          </a:solidFill>
          <a:ln w="9525">
            <a:solidFill>
              <a:srgbClr val="6366F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84632" y="4806696"/>
            <a:ext cx="155448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2B6"/>
                </a:solidFill>
                <a:latin typeface="Courier New"/>
              </a:rPr>
              <a:t>&lt;address&gt;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48840" y="4733544"/>
            <a:ext cx="3813048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Arial"/>
              </a:rPr>
              <a:t>Guarda o contato da loja: e-mail e telefone. O navegador mostra em itálico.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34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34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4" grpId="1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1" grpId="1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B1026"/>
            </a:gs>
            <a:gs pos="100000">
              <a:srgbClr val="1C1245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250">
                <a:solidFill>
                  <a:srgbClr val="C084FC"/>
                </a:solidFill>
                <a:latin typeface="Arial"/>
              </a:rPr>
              <a:t>05 · INTERAÇÃO E MÍDIA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8FAFC"/>
                </a:solidFill>
                <a:latin typeface="Arial"/>
              </a:rPr>
              <a:t>&lt;details&gt; e &lt;summary&gt;: abre e fecha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280"/>
                </a:solidFill>
                <a:latin typeface="Arial"/>
              </a:rPr>
              <a:t>Guia das tags HTML · Linguagem de Marcação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280"/>
                </a:solidFill>
                <a:latin typeface="Arial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25880"/>
            <a:ext cx="5623560" cy="2036064"/>
          </a:xfrm>
          <a:prstGeom prst="roundRect">
            <a:avLst>
              <a:gd name="adj" fmla="val 4000"/>
            </a:avLst>
          </a:prstGeom>
          <a:solidFill>
            <a:srgbClr val="0E1230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57784" y="1444752"/>
            <a:ext cx="100584" cy="100584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13232" y="1444752"/>
            <a:ext cx="100584" cy="100584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68680" y="1444752"/>
            <a:ext cx="100584" cy="100584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1380744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4A3B8"/>
                </a:solidFill>
                <a:latin typeface="Courier New"/>
              </a:rPr>
              <a:t>index.html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" y="1673352"/>
            <a:ext cx="5440680" cy="15697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472B6"/>
                </a:solidFill>
                <a:latin typeface="Courier New"/>
              </a:rPr>
              <a:t>&lt;details&gt;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Courier New"/>
              </a:rPr>
              <a:t>  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&lt;summary&gt;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Vocês fazem entrega?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&lt;/summary&gt;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Courier New"/>
              </a:rPr>
              <a:t>  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&lt;p&gt;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Sim, no bairro, de segunda a sábado.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&lt;/p&gt;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472B6"/>
                </a:solidFill>
                <a:latin typeface="Courier New"/>
              </a:rPr>
              <a:t>&lt;/details&gt;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472B6"/>
                </a:solidFill>
                <a:latin typeface="Courier New"/>
              </a:rPr>
              <a:t>&lt;details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FBBF24"/>
                </a:solidFill>
                <a:latin typeface="Courier New"/>
              </a:rPr>
              <a:t>open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&gt;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Courier New"/>
              </a:rPr>
              <a:t>  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&lt;summary&gt;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Aceitam Pix?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&lt;/summary&gt;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Courier New"/>
              </a:rPr>
              <a:t>  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&lt;p&gt;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Sim!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&lt;/p&gt;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472B6"/>
                </a:solidFill>
                <a:latin typeface="Courier New"/>
              </a:rPr>
              <a:t>&lt;/details&gt;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325880"/>
            <a:ext cx="5532120" cy="4937760"/>
          </a:xfrm>
          <a:prstGeom prst="roundRect">
            <a:avLst>
              <a:gd name="adj" fmla="val 3000"/>
            </a:avLst>
          </a:prstGeom>
          <a:solidFill>
            <a:srgbClr val="1B2045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09944" y="1444752"/>
            <a:ext cx="100584" cy="100584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565392" y="1444752"/>
            <a:ext cx="100584" cy="100584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720840" y="1444752"/>
            <a:ext cx="100584" cy="100584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949440" y="1389888"/>
            <a:ext cx="4663440" cy="219456"/>
          </a:xfrm>
          <a:prstGeom prst="roundRect">
            <a:avLst>
              <a:gd name="adj" fmla="val 40000"/>
            </a:avLst>
          </a:prstGeom>
          <a:solidFill>
            <a:srgbClr val="0E123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86600" y="1389888"/>
            <a:ext cx="443484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4A3B8"/>
                </a:solidFill>
                <a:latin typeface="Courier New"/>
              </a:rPr>
              <a:t>docesabor.com.br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1709928"/>
            <a:ext cx="5349240" cy="4462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55080" y="1709928"/>
            <a:ext cx="5349240" cy="4462272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75120" y="1938528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F2A1E"/>
                </a:solidFill>
                <a:latin typeface="Arial"/>
              </a:rPr>
              <a:t>Perguntas frequentes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2487168"/>
            <a:ext cx="470916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BCFE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0" y="2487168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F2A1E"/>
                </a:solidFill>
                <a:latin typeface="Arial"/>
              </a:rPr>
              <a:t>►  Vocês fazem entrega?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1668780"/>
            <a:ext cx="5495544" cy="771144"/>
          </a:xfrm>
          <a:prstGeom prst="roundRect">
            <a:avLst>
              <a:gd name="adj" fmla="val 8000"/>
            </a:avLst>
          </a:prstGeom>
          <a:solidFill>
            <a:srgbClr val="6366F1">
              <a:alpha val="26000"/>
            </a:srgbClr>
          </a:solidFill>
          <a:ln w="9525">
            <a:solidFill>
              <a:srgbClr val="818CF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11480" y="3489960"/>
            <a:ext cx="5623560" cy="457200"/>
          </a:xfrm>
          <a:prstGeom prst="roundRect">
            <a:avLst>
              <a:gd name="adj" fmla="val 12000"/>
            </a:avLst>
          </a:prstGeom>
          <a:solidFill>
            <a:srgbClr val="11163A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84632" y="3563112"/>
            <a:ext cx="1463040" cy="310896"/>
          </a:xfrm>
          <a:prstGeom prst="roundRect">
            <a:avLst>
              <a:gd name="adj" fmla="val 20000"/>
            </a:avLst>
          </a:prstGeom>
          <a:solidFill>
            <a:srgbClr val="1E1B4B"/>
          </a:solidFill>
          <a:ln w="9525">
            <a:solidFill>
              <a:srgbClr val="6366F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4632" y="3563112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2B6"/>
                </a:solidFill>
                <a:latin typeface="Courier New"/>
              </a:rPr>
              <a:t>&lt;details&gt;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3489960"/>
            <a:ext cx="3904488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Arial"/>
              </a:rPr>
              <a:t>Uma caixa que abre e fecha sozinha, sem JavaScript.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03720" y="3172968"/>
            <a:ext cx="2651760" cy="274320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903720" y="3172968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2937"/>
                </a:solidFill>
                <a:latin typeface="Arial"/>
              </a:rPr>
              <a:t>↑ clique no texto do summary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1859280"/>
            <a:ext cx="5495544" cy="199644"/>
          </a:xfrm>
          <a:prstGeom prst="roundRect">
            <a:avLst>
              <a:gd name="adj" fmla="val 8000"/>
            </a:avLst>
          </a:prstGeom>
          <a:solidFill>
            <a:srgbClr val="6366F1">
              <a:alpha val="26000"/>
            </a:srgbClr>
          </a:solidFill>
          <a:ln w="9525">
            <a:solidFill>
              <a:srgbClr val="818CF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411480" y="4020312"/>
            <a:ext cx="5623560" cy="457200"/>
          </a:xfrm>
          <a:prstGeom prst="roundRect">
            <a:avLst>
              <a:gd name="adj" fmla="val 12000"/>
            </a:avLst>
          </a:prstGeom>
          <a:solidFill>
            <a:srgbClr val="11163A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484632" y="4093464"/>
            <a:ext cx="1463040" cy="310896"/>
          </a:xfrm>
          <a:prstGeom prst="roundRect">
            <a:avLst>
              <a:gd name="adj" fmla="val 20000"/>
            </a:avLst>
          </a:prstGeom>
          <a:solidFill>
            <a:srgbClr val="1E1B4B"/>
          </a:solidFill>
          <a:ln w="9525">
            <a:solidFill>
              <a:srgbClr val="6366F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84632" y="4093464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2B6"/>
                </a:solidFill>
                <a:latin typeface="Courier New"/>
              </a:rPr>
              <a:t>&lt;summary&gt;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400" y="4020312"/>
            <a:ext cx="3904488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Arial"/>
              </a:rPr>
              <a:t>O texto que sempre aparece. Clicar nele abre ou fecha a caixa.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75120" y="2487168"/>
            <a:ext cx="470916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C489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858000" y="2532888"/>
            <a:ext cx="443484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F2A1E"/>
                </a:solidFill>
                <a:latin typeface="Arial"/>
              </a:rPr>
              <a:t>▼  Vocês fazem entrega?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3035808"/>
            <a:ext cx="44348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4F3F"/>
                </a:solidFill>
                <a:latin typeface="Arial"/>
              </a:rPr>
              <a:t>Sim, no bairro, de segunda a sábado.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75488" y="2049780"/>
            <a:ext cx="5495544" cy="199644"/>
          </a:xfrm>
          <a:prstGeom prst="roundRect">
            <a:avLst>
              <a:gd name="adj" fmla="val 8000"/>
            </a:avLst>
          </a:prstGeom>
          <a:solidFill>
            <a:srgbClr val="6366F1">
              <a:alpha val="26000"/>
            </a:srgbClr>
          </a:solidFill>
          <a:ln w="9525">
            <a:solidFill>
              <a:srgbClr val="818CF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411480" y="4550664"/>
            <a:ext cx="5623560" cy="457200"/>
          </a:xfrm>
          <a:prstGeom prst="roundRect">
            <a:avLst>
              <a:gd name="adj" fmla="val 12000"/>
            </a:avLst>
          </a:prstGeom>
          <a:solidFill>
            <a:srgbClr val="11163A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484632" y="4623816"/>
            <a:ext cx="1463040" cy="310896"/>
          </a:xfrm>
          <a:prstGeom prst="roundRect">
            <a:avLst>
              <a:gd name="adj" fmla="val 20000"/>
            </a:avLst>
          </a:prstGeom>
          <a:solidFill>
            <a:srgbClr val="1E1B4B"/>
          </a:solidFill>
          <a:ln w="9525">
            <a:solidFill>
              <a:srgbClr val="6366F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84632" y="4623816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2B6"/>
                </a:solidFill>
                <a:latin typeface="Courier New"/>
              </a:rPr>
              <a:t>&lt;p&gt; escondido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57400" y="4550664"/>
            <a:ext cx="3904488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Arial"/>
              </a:rPr>
              <a:t>Fica escondido. Só aparece depois do clique no summary.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675120" y="3904488"/>
            <a:ext cx="47091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C489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858000" y="3950208"/>
            <a:ext cx="44348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F2A1E"/>
                </a:solidFill>
                <a:latin typeface="Arial"/>
              </a:rPr>
              <a:t>▼  Aceitam Pix?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4407408"/>
            <a:ext cx="443484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4F3F"/>
                </a:solidFill>
                <a:latin typeface="Arial"/>
              </a:rPr>
              <a:t>Sim!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903720" y="5138928"/>
            <a:ext cx="3200400" cy="274320"/>
          </a:xfrm>
          <a:prstGeom prst="roundRect">
            <a:avLst>
              <a:gd name="adj" fmla="val 30000"/>
            </a:avLst>
          </a:prstGeom>
          <a:solidFill>
            <a:srgbClr val="EC489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903720" y="5138928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open: esta já começa aberta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75488" y="2430780"/>
            <a:ext cx="5495544" cy="771144"/>
          </a:xfrm>
          <a:prstGeom prst="roundRect">
            <a:avLst>
              <a:gd name="adj" fmla="val 8000"/>
            </a:avLst>
          </a:prstGeom>
          <a:solidFill>
            <a:srgbClr val="6366F1">
              <a:alpha val="26000"/>
            </a:srgbClr>
          </a:solidFill>
          <a:ln w="9525">
            <a:solidFill>
              <a:srgbClr val="818CF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411480" y="5081016"/>
            <a:ext cx="5623560" cy="457200"/>
          </a:xfrm>
          <a:prstGeom prst="roundRect">
            <a:avLst>
              <a:gd name="adj" fmla="val 12000"/>
            </a:avLst>
          </a:prstGeom>
          <a:solidFill>
            <a:srgbClr val="11163A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484632" y="5154168"/>
            <a:ext cx="1463040" cy="310896"/>
          </a:xfrm>
          <a:prstGeom prst="roundRect">
            <a:avLst>
              <a:gd name="adj" fmla="val 20000"/>
            </a:avLst>
          </a:prstGeom>
          <a:solidFill>
            <a:srgbClr val="1E1B4B"/>
          </a:solidFill>
          <a:ln w="9525">
            <a:solidFill>
              <a:srgbClr val="6366F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84632" y="5154168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2B6"/>
                </a:solidFill>
                <a:latin typeface="Courier New"/>
              </a:rPr>
              <a:t>open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57400" y="5081016"/>
            <a:ext cx="3904488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Arial"/>
              </a:rPr>
              <a:t>Com o atributo open, a caixa já começa aberta quando a página carrega.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34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34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34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34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3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34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4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4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4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4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3" grpId="1" animBg="1"/>
      <p:bldP spid="24" grpId="0" animBg="1"/>
      <p:bldP spid="25" grpId="0" animBg="1"/>
      <p:bldP spid="26" grpId="0" animBg="1"/>
      <p:bldP spid="27" grpId="0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8" grpId="1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B1026"/>
            </a:gs>
            <a:gs pos="100000">
              <a:srgbClr val="1C1245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250">
                <a:solidFill>
                  <a:srgbClr val="C084FC"/>
                </a:solidFill>
                <a:latin typeface="Arial"/>
              </a:rPr>
              <a:t>05 · INTERAÇÃO E MÍDIA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8FAFC"/>
                </a:solidFill>
                <a:latin typeface="Arial"/>
              </a:rPr>
              <a:t>&lt;section&gt; e &lt;iframe&gt;: o mapa da loja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280"/>
                </a:solidFill>
                <a:latin typeface="Arial"/>
              </a:rPr>
              <a:t>Guia das tags HTML · Linguagem de Marcação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280"/>
                </a:solidFill>
                <a:latin typeface="Arial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25880"/>
            <a:ext cx="5623560" cy="1845564"/>
          </a:xfrm>
          <a:prstGeom prst="roundRect">
            <a:avLst>
              <a:gd name="adj" fmla="val 4000"/>
            </a:avLst>
          </a:prstGeom>
          <a:solidFill>
            <a:srgbClr val="0E1230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57784" y="1444752"/>
            <a:ext cx="100584" cy="100584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13232" y="1444752"/>
            <a:ext cx="100584" cy="100584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68680" y="1444752"/>
            <a:ext cx="100584" cy="100584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1380744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4A3B8"/>
                </a:solidFill>
                <a:latin typeface="Courier New"/>
              </a:rPr>
              <a:t>index.html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" y="1673352"/>
            <a:ext cx="5440680" cy="13792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472B6"/>
                </a:solidFill>
                <a:latin typeface="Courier New"/>
              </a:rPr>
              <a:t>&lt;section&gt;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Courier New"/>
              </a:rPr>
              <a:t>  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&lt;h2&gt;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Onde estamos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&lt;/h2&gt;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Courier New"/>
              </a:rPr>
              <a:t>  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&lt;iframe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FBBF24"/>
                </a:solidFill>
                <a:latin typeface="Courier New"/>
              </a:rPr>
              <a:t>width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=</a:t>
            </a:r>
            <a:r>
              <a:rPr sz="1050" b="0" i="0">
                <a:solidFill>
                  <a:srgbClr val="34D399"/>
                </a:solidFill>
                <a:latin typeface="Courier New"/>
              </a:rPr>
              <a:t>"400"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FBBF24"/>
                </a:solidFill>
                <a:latin typeface="Courier New"/>
              </a:rPr>
              <a:t>height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=</a:t>
            </a:r>
            <a:r>
              <a:rPr sz="1050" b="0" i="0">
                <a:solidFill>
                  <a:srgbClr val="34D399"/>
                </a:solidFill>
                <a:latin typeface="Courier New"/>
              </a:rPr>
              <a:t>"300"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Courier New"/>
              </a:rPr>
              <a:t>    </a:t>
            </a:r>
            <a:r>
              <a:rPr sz="1050" b="0" i="0">
                <a:solidFill>
                  <a:srgbClr val="FBBF24"/>
                </a:solidFill>
                <a:latin typeface="Courier New"/>
              </a:rPr>
              <a:t>src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=</a:t>
            </a:r>
            <a:r>
              <a:rPr sz="1050" b="0" i="0">
                <a:solidFill>
                  <a:srgbClr val="34D399"/>
                </a:solidFill>
                <a:latin typeface="Courier New"/>
              </a:rPr>
              <a:t>"https://www.google.com/maps/embed?pb=..."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Courier New"/>
              </a:rPr>
              <a:t>    </a:t>
            </a:r>
            <a:r>
              <a:rPr sz="1050" b="0" i="0">
                <a:solidFill>
                  <a:srgbClr val="FBBF24"/>
                </a:solidFill>
                <a:latin typeface="Courier New"/>
              </a:rPr>
              <a:t>title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=</a:t>
            </a:r>
            <a:r>
              <a:rPr sz="1050" b="0" i="0">
                <a:solidFill>
                  <a:srgbClr val="34D399"/>
                </a:solidFill>
                <a:latin typeface="Courier New"/>
              </a:rPr>
              <a:t>"Mapa da loja Doce Sabor"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&gt;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Courier New"/>
              </a:rPr>
              <a:t>  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&lt;/iframe&gt;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472B6"/>
                </a:solidFill>
                <a:latin typeface="Courier New"/>
              </a:rPr>
              <a:t>&lt;/section&gt;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325880"/>
            <a:ext cx="5532120" cy="4937760"/>
          </a:xfrm>
          <a:prstGeom prst="roundRect">
            <a:avLst>
              <a:gd name="adj" fmla="val 3000"/>
            </a:avLst>
          </a:prstGeom>
          <a:solidFill>
            <a:srgbClr val="1B2045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09944" y="1444752"/>
            <a:ext cx="100584" cy="100584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565392" y="1444752"/>
            <a:ext cx="100584" cy="100584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720840" y="1444752"/>
            <a:ext cx="100584" cy="100584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949440" y="1389888"/>
            <a:ext cx="4663440" cy="219456"/>
          </a:xfrm>
          <a:prstGeom prst="roundRect">
            <a:avLst>
              <a:gd name="adj" fmla="val 40000"/>
            </a:avLst>
          </a:prstGeom>
          <a:solidFill>
            <a:srgbClr val="0E123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86600" y="1389888"/>
            <a:ext cx="443484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4A3B8"/>
                </a:solidFill>
                <a:latin typeface="Courier New"/>
              </a:rPr>
              <a:t>docesabor.com.br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1709928"/>
            <a:ext cx="5349240" cy="4462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629400" y="1938528"/>
            <a:ext cx="4800600" cy="4005072"/>
          </a:xfrm>
          <a:prstGeom prst="roundRect">
            <a:avLst>
              <a:gd name="adj" fmla="val 4000"/>
            </a:avLst>
          </a:prstGeom>
          <a:noFill/>
          <a:ln w="19050">
            <a:solidFill>
              <a:srgbClr val="DB2777"/>
            </a:solidFill>
            <a:prstDash val="dash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66560" y="198424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B2777"/>
                </a:solidFill>
                <a:latin typeface="Courier New"/>
              </a:rPr>
              <a:t>&lt;section&gt;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2258568"/>
            <a:ext cx="443484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3F2A1E"/>
                </a:solidFill>
                <a:latin typeface="Arial"/>
              </a:rPr>
              <a:t>Onde estamos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1668780"/>
            <a:ext cx="5495544" cy="1342644"/>
          </a:xfrm>
          <a:prstGeom prst="roundRect">
            <a:avLst>
              <a:gd name="adj" fmla="val 8000"/>
            </a:avLst>
          </a:prstGeom>
          <a:solidFill>
            <a:srgbClr val="6366F1">
              <a:alpha val="26000"/>
            </a:srgbClr>
          </a:solidFill>
          <a:ln w="9525">
            <a:solidFill>
              <a:srgbClr val="818CF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11480" y="3299460"/>
            <a:ext cx="5623560" cy="420624"/>
          </a:xfrm>
          <a:prstGeom prst="roundRect">
            <a:avLst>
              <a:gd name="adj" fmla="val 12000"/>
            </a:avLst>
          </a:prstGeom>
          <a:solidFill>
            <a:srgbClr val="11163A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84632" y="3372612"/>
            <a:ext cx="1463040" cy="274320"/>
          </a:xfrm>
          <a:prstGeom prst="roundRect">
            <a:avLst>
              <a:gd name="adj" fmla="val 20000"/>
            </a:avLst>
          </a:prstGeom>
          <a:solidFill>
            <a:srgbClr val="1E1B4B"/>
          </a:solidFill>
          <a:ln w="9525">
            <a:solidFill>
              <a:srgbClr val="6366F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4632" y="3372612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2B6"/>
                </a:solidFill>
                <a:latin typeface="Courier New"/>
              </a:rPr>
              <a:t>&lt;section&gt;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3299460"/>
            <a:ext cx="3904488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Arial"/>
              </a:rPr>
              <a:t>Um bloco com tema e título próprio. Aqui: a localização.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40880" y="2852928"/>
            <a:ext cx="3291840" cy="2240280"/>
          </a:xfrm>
          <a:prstGeom prst="rect">
            <a:avLst/>
          </a:prstGeom>
          <a:solidFill>
            <a:srgbClr val="E5F0E0"/>
          </a:solidFill>
          <a:ln w="12700">
            <a:solidFill>
              <a:srgbClr val="CBD5E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040880" y="3584448"/>
            <a:ext cx="3291840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040880" y="4453128"/>
            <a:ext cx="3291840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046720" y="2852928"/>
            <a:ext cx="109728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418320" y="2852928"/>
            <a:ext cx="9144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503920" y="3767328"/>
            <a:ext cx="685800" cy="502920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823960" y="3721608"/>
            <a:ext cx="310896" cy="310896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933688" y="3831336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8458200" y="4087368"/>
            <a:ext cx="1051560" cy="23774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458200" y="4087368"/>
            <a:ext cx="105156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F2A1E"/>
                </a:solidFill>
                <a:latin typeface="Arial"/>
              </a:rPr>
              <a:t>Doce Sabor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5488" y="2049780"/>
            <a:ext cx="5495544" cy="771144"/>
          </a:xfrm>
          <a:prstGeom prst="roundRect">
            <a:avLst>
              <a:gd name="adj" fmla="val 8000"/>
            </a:avLst>
          </a:prstGeom>
          <a:solidFill>
            <a:srgbClr val="6366F1">
              <a:alpha val="26000"/>
            </a:srgbClr>
          </a:solidFill>
          <a:ln w="9525">
            <a:solidFill>
              <a:srgbClr val="818CF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411480" y="3793236"/>
            <a:ext cx="5623560" cy="420624"/>
          </a:xfrm>
          <a:prstGeom prst="roundRect">
            <a:avLst>
              <a:gd name="adj" fmla="val 12000"/>
            </a:avLst>
          </a:prstGeom>
          <a:solidFill>
            <a:srgbClr val="11163A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484632" y="3866388"/>
            <a:ext cx="1463040" cy="274320"/>
          </a:xfrm>
          <a:prstGeom prst="roundRect">
            <a:avLst>
              <a:gd name="adj" fmla="val 20000"/>
            </a:avLst>
          </a:prstGeom>
          <a:solidFill>
            <a:srgbClr val="1E1B4B"/>
          </a:solidFill>
          <a:ln w="9525">
            <a:solidFill>
              <a:srgbClr val="6366F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84632" y="3866388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2B6"/>
                </a:solidFill>
                <a:latin typeface="Courier New"/>
              </a:rPr>
              <a:t>&lt;iframe&gt; src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57400" y="3793236"/>
            <a:ext cx="3904488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Arial"/>
              </a:rPr>
              <a:t>Uma janela para outra página dentro da sua. No Google Maps: Compartilhar, Incorporar um mapa.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040880" y="5202936"/>
            <a:ext cx="3291840" cy="228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040880" y="5230368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97316"/>
                </a:solidFill>
                <a:latin typeface="Arial"/>
              </a:rPr>
              <a:t>400 px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442448" y="2852928"/>
            <a:ext cx="22860" cy="22402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497312" y="383590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97316"/>
                </a:solidFill>
                <a:latin typeface="Arial"/>
              </a:rPr>
              <a:t>300 px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75488" y="2049780"/>
            <a:ext cx="5495544" cy="199644"/>
          </a:xfrm>
          <a:prstGeom prst="roundRect">
            <a:avLst>
              <a:gd name="adj" fmla="val 8000"/>
            </a:avLst>
          </a:prstGeom>
          <a:solidFill>
            <a:srgbClr val="6366F1">
              <a:alpha val="26000"/>
            </a:srgbClr>
          </a:solidFill>
          <a:ln w="9525">
            <a:solidFill>
              <a:srgbClr val="818CF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411480" y="4287012"/>
            <a:ext cx="5623560" cy="420624"/>
          </a:xfrm>
          <a:prstGeom prst="roundRect">
            <a:avLst>
              <a:gd name="adj" fmla="val 12000"/>
            </a:avLst>
          </a:prstGeom>
          <a:solidFill>
            <a:srgbClr val="11163A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484632" y="4360164"/>
            <a:ext cx="1463040" cy="274320"/>
          </a:xfrm>
          <a:prstGeom prst="roundRect">
            <a:avLst>
              <a:gd name="adj" fmla="val 20000"/>
            </a:avLst>
          </a:prstGeom>
          <a:solidFill>
            <a:srgbClr val="1E1B4B"/>
          </a:solidFill>
          <a:ln w="9525">
            <a:solidFill>
              <a:srgbClr val="6366F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84632" y="4360164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2B6"/>
                </a:solidFill>
                <a:latin typeface="Courier New"/>
              </a:rPr>
              <a:t>width height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57400" y="4287012"/>
            <a:ext cx="3904488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Arial"/>
              </a:rPr>
              <a:t>O tamanho do quadro em pixels: 400 de largura e 300 de altura.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903720" y="5550408"/>
            <a:ext cx="4251960" cy="384048"/>
          </a:xfrm>
          <a:prstGeom prst="roundRect">
            <a:avLst>
              <a:gd name="adj" fmla="val 20000"/>
            </a:avLst>
          </a:prstGeom>
          <a:solidFill>
            <a:srgbClr val="EEF2FF"/>
          </a:solidFill>
          <a:ln w="12700">
            <a:solidFill>
              <a:srgbClr val="6366F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995160" y="5550408"/>
            <a:ext cx="406908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12E81"/>
                </a:solidFill>
                <a:latin typeface="Arial"/>
              </a:rPr>
              <a:t>Leitor de tela: "Mapa da loja Doce Sabor"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75488" y="2430780"/>
            <a:ext cx="5495544" cy="199644"/>
          </a:xfrm>
          <a:prstGeom prst="roundRect">
            <a:avLst>
              <a:gd name="adj" fmla="val 8000"/>
            </a:avLst>
          </a:prstGeom>
          <a:solidFill>
            <a:srgbClr val="6366F1">
              <a:alpha val="26000"/>
            </a:srgbClr>
          </a:solidFill>
          <a:ln w="9525">
            <a:solidFill>
              <a:srgbClr val="818CF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411480" y="4780788"/>
            <a:ext cx="5623560" cy="420624"/>
          </a:xfrm>
          <a:prstGeom prst="roundRect">
            <a:avLst>
              <a:gd name="adj" fmla="val 12000"/>
            </a:avLst>
          </a:prstGeom>
          <a:solidFill>
            <a:srgbClr val="11163A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484632" y="4853940"/>
            <a:ext cx="1463040" cy="274320"/>
          </a:xfrm>
          <a:prstGeom prst="roundRect">
            <a:avLst>
              <a:gd name="adj" fmla="val 20000"/>
            </a:avLst>
          </a:prstGeom>
          <a:solidFill>
            <a:srgbClr val="1E1B4B"/>
          </a:solidFill>
          <a:ln w="9525">
            <a:solidFill>
              <a:srgbClr val="6366F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84632" y="485394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2B6"/>
                </a:solidFill>
                <a:latin typeface="Courier New"/>
              </a:rPr>
              <a:t>title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57400" y="4780788"/>
            <a:ext cx="3904488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Arial"/>
              </a:rPr>
              <a:t>Descreve o que tem no quadro. É o que o leitor de tela fala. Vídeo do YouTube: só muda o src.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34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3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34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4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4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4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3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34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4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4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4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4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4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2" grpId="1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7" grpId="1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6" grpId="1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B1026"/>
            </a:gs>
            <a:gs pos="100000">
              <a:srgbClr val="1C1245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250">
                <a:solidFill>
                  <a:srgbClr val="C084FC"/>
                </a:solidFill>
                <a:latin typeface="Arial"/>
              </a:rPr>
              <a:t>06 · FORMULÁRIOS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8FAFC"/>
                </a:solidFill>
                <a:latin typeface="Arial"/>
              </a:rPr>
              <a:t>&lt;form&gt;, &lt;label&gt; e &lt;input&gt;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280"/>
                </a:solidFill>
                <a:latin typeface="Arial"/>
              </a:rPr>
              <a:t>Guia das tags HTML · Linguagem de Marcação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280"/>
                </a:solidFill>
                <a:latin typeface="Arial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25880"/>
            <a:ext cx="5623560" cy="1655064"/>
          </a:xfrm>
          <a:prstGeom prst="roundRect">
            <a:avLst>
              <a:gd name="adj" fmla="val 4000"/>
            </a:avLst>
          </a:prstGeom>
          <a:solidFill>
            <a:srgbClr val="0E1230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57784" y="1444752"/>
            <a:ext cx="100584" cy="100584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13232" y="1444752"/>
            <a:ext cx="100584" cy="100584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68680" y="1444752"/>
            <a:ext cx="100584" cy="100584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1380744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4A3B8"/>
                </a:solidFill>
                <a:latin typeface="Courier New"/>
              </a:rPr>
              <a:t>index.html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" y="1673352"/>
            <a:ext cx="5440680" cy="11887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472B6"/>
                </a:solidFill>
                <a:latin typeface="Courier New"/>
              </a:rPr>
              <a:t>&lt;form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FBBF24"/>
                </a:solidFill>
                <a:latin typeface="Courier New"/>
              </a:rPr>
              <a:t>action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=</a:t>
            </a:r>
            <a:r>
              <a:rPr sz="1050" b="0" i="0">
                <a:solidFill>
                  <a:srgbClr val="34D399"/>
                </a:solidFill>
                <a:latin typeface="Courier New"/>
              </a:rPr>
              <a:t>"/encomendas"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FBBF24"/>
                </a:solidFill>
                <a:latin typeface="Courier New"/>
              </a:rPr>
              <a:t>method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=</a:t>
            </a:r>
            <a:r>
              <a:rPr sz="1050" b="0" i="0">
                <a:solidFill>
                  <a:srgbClr val="34D399"/>
                </a:solidFill>
                <a:latin typeface="Courier New"/>
              </a:rPr>
              <a:t>"post"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&gt;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Courier New"/>
              </a:rPr>
              <a:t>  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&lt;label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FBBF24"/>
                </a:solidFill>
                <a:latin typeface="Courier New"/>
              </a:rPr>
              <a:t>for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=</a:t>
            </a:r>
            <a:r>
              <a:rPr sz="1050" b="0" i="0">
                <a:solidFill>
                  <a:srgbClr val="34D399"/>
                </a:solidFill>
                <a:latin typeface="Courier New"/>
              </a:rPr>
              <a:t>"email"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&gt;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E-mail: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&lt;/label&gt;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Courier New"/>
              </a:rPr>
              <a:t>  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&lt;input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FBBF24"/>
                </a:solidFill>
                <a:latin typeface="Courier New"/>
              </a:rPr>
              <a:t>type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=</a:t>
            </a:r>
            <a:r>
              <a:rPr sz="1050" b="0" i="0">
                <a:solidFill>
                  <a:srgbClr val="34D399"/>
                </a:solidFill>
                <a:latin typeface="Courier New"/>
              </a:rPr>
              <a:t>"email"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FBBF24"/>
                </a:solidFill>
                <a:latin typeface="Courier New"/>
              </a:rPr>
              <a:t>id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=</a:t>
            </a:r>
            <a:r>
              <a:rPr sz="1050" b="0" i="0">
                <a:solidFill>
                  <a:srgbClr val="34D399"/>
                </a:solidFill>
                <a:latin typeface="Courier New"/>
              </a:rPr>
              <a:t>"email"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Courier New"/>
              </a:rPr>
              <a:t>         </a:t>
            </a:r>
            <a:r>
              <a:rPr sz="1050" b="0" i="0">
                <a:solidFill>
                  <a:srgbClr val="FBBF24"/>
                </a:solidFill>
                <a:latin typeface="Courier New"/>
              </a:rPr>
              <a:t>name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=</a:t>
            </a:r>
            <a:r>
              <a:rPr sz="1050" b="0" i="0">
                <a:solidFill>
                  <a:srgbClr val="34D399"/>
                </a:solidFill>
                <a:latin typeface="Courier New"/>
              </a:rPr>
              <a:t>"email"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FBBF24"/>
                </a:solidFill>
                <a:latin typeface="Courier New"/>
              </a:rPr>
              <a:t>required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&gt;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Courier New"/>
              </a:rPr>
              <a:t>  ...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472B6"/>
                </a:solidFill>
                <a:latin typeface="Courier New"/>
              </a:rPr>
              <a:t>&lt;/form&gt;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325880"/>
            <a:ext cx="5532120" cy="4937760"/>
          </a:xfrm>
          <a:prstGeom prst="roundRect">
            <a:avLst>
              <a:gd name="adj" fmla="val 3000"/>
            </a:avLst>
          </a:prstGeom>
          <a:solidFill>
            <a:srgbClr val="1B2045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09944" y="1444752"/>
            <a:ext cx="100584" cy="100584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565392" y="1444752"/>
            <a:ext cx="100584" cy="100584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720840" y="1444752"/>
            <a:ext cx="100584" cy="100584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949440" y="1389888"/>
            <a:ext cx="4663440" cy="219456"/>
          </a:xfrm>
          <a:prstGeom prst="roundRect">
            <a:avLst>
              <a:gd name="adj" fmla="val 40000"/>
            </a:avLst>
          </a:prstGeom>
          <a:solidFill>
            <a:srgbClr val="0E123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86600" y="1389888"/>
            <a:ext cx="443484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4A3B8"/>
                </a:solidFill>
                <a:latin typeface="Courier New"/>
              </a:rPr>
              <a:t>docesabor.com.br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1709928"/>
            <a:ext cx="5349240" cy="4462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55080" y="1709928"/>
            <a:ext cx="5349240" cy="4462272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903720" y="2029968"/>
            <a:ext cx="425196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C489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32320" y="2167128"/>
            <a:ext cx="379476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F2A1E"/>
                </a:solidFill>
                <a:latin typeface="Arial"/>
              </a:rPr>
              <a:t>Faça sua encomenda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0" y="5138928"/>
            <a:ext cx="3794760" cy="292608"/>
          </a:xfrm>
          <a:prstGeom prst="roundRect">
            <a:avLst>
              <a:gd name="adj" fmla="val 30000"/>
            </a:avLst>
          </a:prstGeom>
          <a:solidFill>
            <a:srgbClr val="3F2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32320" y="5138928"/>
            <a:ext cx="379476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BCFE8"/>
                </a:solidFill>
                <a:latin typeface="Courier New"/>
              </a:rPr>
              <a:t>POST → /encomendas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1668780"/>
            <a:ext cx="5495544" cy="1152144"/>
          </a:xfrm>
          <a:prstGeom prst="roundRect">
            <a:avLst>
              <a:gd name="adj" fmla="val 8000"/>
            </a:avLst>
          </a:prstGeom>
          <a:solidFill>
            <a:srgbClr val="6366F1">
              <a:alpha val="26000"/>
            </a:srgbClr>
          </a:solidFill>
          <a:ln w="9525">
            <a:solidFill>
              <a:srgbClr val="818CF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11480" y="3108960"/>
            <a:ext cx="5623560" cy="457200"/>
          </a:xfrm>
          <a:prstGeom prst="roundRect">
            <a:avLst>
              <a:gd name="adj" fmla="val 12000"/>
            </a:avLst>
          </a:prstGeom>
          <a:solidFill>
            <a:srgbClr val="11163A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84632" y="3182112"/>
            <a:ext cx="1371600" cy="310896"/>
          </a:xfrm>
          <a:prstGeom prst="roundRect">
            <a:avLst>
              <a:gd name="adj" fmla="val 20000"/>
            </a:avLst>
          </a:prstGeom>
          <a:solidFill>
            <a:srgbClr val="1E1B4B"/>
          </a:solidFill>
          <a:ln w="9525">
            <a:solidFill>
              <a:srgbClr val="6366F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4632" y="3182112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2B6"/>
                </a:solidFill>
                <a:latin typeface="Courier New"/>
              </a:rPr>
              <a:t>&lt;form&gt;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65960" y="3108960"/>
            <a:ext cx="3995928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Arial"/>
              </a:rPr>
              <a:t>Agrupa os campos. action: para onde enviar. method: como enviar.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267004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F2A1E"/>
                </a:solidFill>
                <a:latin typeface="Arial"/>
              </a:rPr>
              <a:t>E-mail: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1859280"/>
            <a:ext cx="5495544" cy="199644"/>
          </a:xfrm>
          <a:prstGeom prst="roundRect">
            <a:avLst>
              <a:gd name="adj" fmla="val 8000"/>
            </a:avLst>
          </a:prstGeom>
          <a:solidFill>
            <a:srgbClr val="6366F1">
              <a:alpha val="26000"/>
            </a:srgbClr>
          </a:solidFill>
          <a:ln w="9525">
            <a:solidFill>
              <a:srgbClr val="818CF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411480" y="3639312"/>
            <a:ext cx="5623560" cy="457200"/>
          </a:xfrm>
          <a:prstGeom prst="roundRect">
            <a:avLst>
              <a:gd name="adj" fmla="val 12000"/>
            </a:avLst>
          </a:prstGeom>
          <a:solidFill>
            <a:srgbClr val="11163A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484632" y="3712464"/>
            <a:ext cx="1371600" cy="310896"/>
          </a:xfrm>
          <a:prstGeom prst="roundRect">
            <a:avLst>
              <a:gd name="adj" fmla="val 20000"/>
            </a:avLst>
          </a:prstGeom>
          <a:solidFill>
            <a:srgbClr val="1E1B4B"/>
          </a:solidFill>
          <a:ln w="9525">
            <a:solidFill>
              <a:srgbClr val="6366F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84632" y="3712464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2B6"/>
                </a:solidFill>
                <a:latin typeface="Courier New"/>
              </a:rPr>
              <a:t>&lt;label&gt;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65960" y="3639312"/>
            <a:ext cx="3995928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Arial"/>
              </a:rPr>
              <a:t>O nome do campo. O for="email" liga o texto ao campo de id="email".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32320" y="2990088"/>
            <a:ext cx="3794760" cy="411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9A8D4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269480" y="2990088"/>
            <a:ext cx="35204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CA3AF"/>
                </a:solidFill>
                <a:latin typeface="Arial"/>
              </a:rPr>
              <a:t>voce@email.com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5488" y="2049780"/>
            <a:ext cx="5495544" cy="390144"/>
          </a:xfrm>
          <a:prstGeom prst="roundRect">
            <a:avLst>
              <a:gd name="adj" fmla="val 8000"/>
            </a:avLst>
          </a:prstGeom>
          <a:solidFill>
            <a:srgbClr val="6366F1">
              <a:alpha val="26000"/>
            </a:srgbClr>
          </a:solidFill>
          <a:ln w="9525">
            <a:solidFill>
              <a:srgbClr val="818CF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411480" y="4169664"/>
            <a:ext cx="5623560" cy="457200"/>
          </a:xfrm>
          <a:prstGeom prst="roundRect">
            <a:avLst>
              <a:gd name="adj" fmla="val 12000"/>
            </a:avLst>
          </a:prstGeom>
          <a:solidFill>
            <a:srgbClr val="11163A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484632" y="4242816"/>
            <a:ext cx="1371600" cy="310896"/>
          </a:xfrm>
          <a:prstGeom prst="roundRect">
            <a:avLst>
              <a:gd name="adj" fmla="val 20000"/>
            </a:avLst>
          </a:prstGeom>
          <a:solidFill>
            <a:srgbClr val="1E1B4B"/>
          </a:solidFill>
          <a:ln w="9525">
            <a:solidFill>
              <a:srgbClr val="6366F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84632" y="4242816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2B6"/>
                </a:solidFill>
                <a:latin typeface="Courier New"/>
              </a:rPr>
              <a:t>&lt;input type="email"&gt;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4169664"/>
            <a:ext cx="3995928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Arial"/>
              </a:rPr>
              <a:t>Campo para digitar. type="email" só aceita e-mail e mostra o teclado com @ no celular.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132320" y="3538728"/>
            <a:ext cx="2468880" cy="3840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223760" y="3538728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97706"/>
                </a:solidFill>
                <a:latin typeface="Arial"/>
              </a:rPr>
              <a:t>! </a:t>
            </a:r>
            <a:r>
              <a:rPr sz="1050" b="0" i="0">
                <a:solidFill>
                  <a:srgbClr val="1F2937"/>
                </a:solidFill>
                <a:latin typeface="Arial"/>
              </a:rPr>
              <a:t>Preencha este campo.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0" y="3995928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4B5563"/>
                </a:solidFill>
                <a:latin typeface="Arial"/>
              </a:rPr>
              <a:t>mensagem automática do navegador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75488" y="2240280"/>
            <a:ext cx="5495544" cy="199644"/>
          </a:xfrm>
          <a:prstGeom prst="roundRect">
            <a:avLst>
              <a:gd name="adj" fmla="val 8000"/>
            </a:avLst>
          </a:prstGeom>
          <a:solidFill>
            <a:srgbClr val="6366F1">
              <a:alpha val="26000"/>
            </a:srgbClr>
          </a:solidFill>
          <a:ln w="9525">
            <a:solidFill>
              <a:srgbClr val="818CF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411480" y="4700016"/>
            <a:ext cx="5623560" cy="457200"/>
          </a:xfrm>
          <a:prstGeom prst="roundRect">
            <a:avLst>
              <a:gd name="adj" fmla="val 12000"/>
            </a:avLst>
          </a:prstGeom>
          <a:solidFill>
            <a:srgbClr val="11163A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484632" y="4773168"/>
            <a:ext cx="1371600" cy="310896"/>
          </a:xfrm>
          <a:prstGeom prst="roundRect">
            <a:avLst>
              <a:gd name="adj" fmla="val 20000"/>
            </a:avLst>
          </a:prstGeom>
          <a:solidFill>
            <a:srgbClr val="1E1B4B"/>
          </a:solidFill>
          <a:ln w="9525">
            <a:solidFill>
              <a:srgbClr val="6366F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84632" y="4773168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2B6"/>
                </a:solidFill>
                <a:latin typeface="Courier New"/>
              </a:rPr>
              <a:t>required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65960" y="4700016"/>
            <a:ext cx="3995928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Arial"/>
              </a:rPr>
              <a:t>Obrigatório: o navegador não deixa enviar com o campo vazio.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34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34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3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34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4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4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4" grpId="1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0" grpId="1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7" grpId="1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B1026"/>
            </a:gs>
            <a:gs pos="100000">
              <a:srgbClr val="1C1245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250">
                <a:solidFill>
                  <a:srgbClr val="C084FC"/>
                </a:solidFill>
                <a:latin typeface="Arial"/>
              </a:rPr>
              <a:t>06 · FORMULÁRIOS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8FAFC"/>
                </a:solidFill>
                <a:latin typeface="Arial"/>
              </a:rPr>
              <a:t>&lt;select&gt; e &lt;option&gt;: a lista de sabores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280"/>
                </a:solidFill>
                <a:latin typeface="Arial"/>
              </a:rPr>
              <a:t>Guia das tags HTML · Linguagem de Marcação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280"/>
                </a:solidFill>
                <a:latin typeface="Arial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25880"/>
            <a:ext cx="5623560" cy="1655064"/>
          </a:xfrm>
          <a:prstGeom prst="roundRect">
            <a:avLst>
              <a:gd name="adj" fmla="val 4000"/>
            </a:avLst>
          </a:prstGeom>
          <a:solidFill>
            <a:srgbClr val="0E1230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57784" y="1444752"/>
            <a:ext cx="100584" cy="100584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13232" y="1444752"/>
            <a:ext cx="100584" cy="100584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68680" y="1444752"/>
            <a:ext cx="100584" cy="100584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1380744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4A3B8"/>
                </a:solidFill>
                <a:latin typeface="Courier New"/>
              </a:rPr>
              <a:t>index.html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" y="1673352"/>
            <a:ext cx="5440680" cy="11887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472B6"/>
                </a:solidFill>
                <a:latin typeface="Courier New"/>
              </a:rPr>
              <a:t>&lt;label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FBBF24"/>
                </a:solidFill>
                <a:latin typeface="Courier New"/>
              </a:rPr>
              <a:t>for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=</a:t>
            </a:r>
            <a:r>
              <a:rPr sz="1050" b="0" i="0">
                <a:solidFill>
                  <a:srgbClr val="34D399"/>
                </a:solidFill>
                <a:latin typeface="Courier New"/>
              </a:rPr>
              <a:t>"sabor"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&gt;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Sabor: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&lt;/label&gt;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472B6"/>
                </a:solidFill>
                <a:latin typeface="Courier New"/>
              </a:rPr>
              <a:t>&lt;select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FBBF24"/>
                </a:solidFill>
                <a:latin typeface="Courier New"/>
              </a:rPr>
              <a:t>id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=</a:t>
            </a:r>
            <a:r>
              <a:rPr sz="1050" b="0" i="0">
                <a:solidFill>
                  <a:srgbClr val="34D399"/>
                </a:solidFill>
                <a:latin typeface="Courier New"/>
              </a:rPr>
              <a:t>"sabor"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FBBF24"/>
                </a:solidFill>
                <a:latin typeface="Courier New"/>
              </a:rPr>
              <a:t>name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=</a:t>
            </a:r>
            <a:r>
              <a:rPr sz="1050" b="0" i="0">
                <a:solidFill>
                  <a:srgbClr val="34D399"/>
                </a:solidFill>
                <a:latin typeface="Courier New"/>
              </a:rPr>
              <a:t>"sabor"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&gt;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Courier New"/>
              </a:rPr>
              <a:t>  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&lt;option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FBBF24"/>
                </a:solidFill>
                <a:latin typeface="Courier New"/>
              </a:rPr>
              <a:t>value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=</a:t>
            </a:r>
            <a:r>
              <a:rPr sz="1050" b="0" i="0">
                <a:solidFill>
                  <a:srgbClr val="34D399"/>
                </a:solidFill>
                <a:latin typeface="Courier New"/>
              </a:rPr>
              <a:t>"chocolate"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&gt;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Chocolate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&lt;/option&gt;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Courier New"/>
              </a:rPr>
              <a:t>  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&lt;option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FBBF24"/>
                </a:solidFill>
                <a:latin typeface="Courier New"/>
              </a:rPr>
              <a:t>value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=</a:t>
            </a:r>
            <a:r>
              <a:rPr sz="1050" b="0" i="0">
                <a:solidFill>
                  <a:srgbClr val="34D399"/>
                </a:solidFill>
                <a:latin typeface="Courier New"/>
              </a:rPr>
              <a:t>"morango"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&gt;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Morango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&lt;/option&gt;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Courier New"/>
              </a:rPr>
              <a:t>  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&lt;option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FBBF24"/>
                </a:solidFill>
                <a:latin typeface="Courier New"/>
              </a:rPr>
              <a:t>value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=</a:t>
            </a:r>
            <a:r>
              <a:rPr sz="1050" b="0" i="0">
                <a:solidFill>
                  <a:srgbClr val="34D399"/>
                </a:solidFill>
                <a:latin typeface="Courier New"/>
              </a:rPr>
              <a:t>"ninho"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&gt;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Ninho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&lt;/option&gt;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472B6"/>
                </a:solidFill>
                <a:latin typeface="Courier New"/>
              </a:rPr>
              <a:t>&lt;/select&gt;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325880"/>
            <a:ext cx="5532120" cy="4937760"/>
          </a:xfrm>
          <a:prstGeom prst="roundRect">
            <a:avLst>
              <a:gd name="adj" fmla="val 3000"/>
            </a:avLst>
          </a:prstGeom>
          <a:solidFill>
            <a:srgbClr val="1B2045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09944" y="1444752"/>
            <a:ext cx="100584" cy="100584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565392" y="1444752"/>
            <a:ext cx="100584" cy="100584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720840" y="1444752"/>
            <a:ext cx="100584" cy="100584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949440" y="1389888"/>
            <a:ext cx="4663440" cy="219456"/>
          </a:xfrm>
          <a:prstGeom prst="roundRect">
            <a:avLst>
              <a:gd name="adj" fmla="val 40000"/>
            </a:avLst>
          </a:prstGeom>
          <a:solidFill>
            <a:srgbClr val="0E123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86600" y="1389888"/>
            <a:ext cx="443484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4A3B8"/>
                </a:solidFill>
                <a:latin typeface="Courier New"/>
              </a:rPr>
              <a:t>docesabor.com.br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1709928"/>
            <a:ext cx="5349240" cy="4462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55080" y="1709928"/>
            <a:ext cx="5349240" cy="4462272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903720" y="2029968"/>
            <a:ext cx="425196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C489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32320" y="221284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F2A1E"/>
                </a:solidFill>
                <a:latin typeface="Arial"/>
              </a:rPr>
              <a:t>Sabor: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0" y="2578608"/>
            <a:ext cx="3794760" cy="411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9A8D4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269480" y="2578608"/>
            <a:ext cx="35204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2937"/>
                </a:solidFill>
                <a:latin typeface="Arial"/>
              </a:rPr>
              <a:t>Chocolate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61320" y="2578608"/>
            <a:ext cx="27432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E185D"/>
                </a:solidFill>
                <a:latin typeface="Arial"/>
              </a:rPr>
              <a:t>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8" y="1859280"/>
            <a:ext cx="5495544" cy="961644"/>
          </a:xfrm>
          <a:prstGeom prst="roundRect">
            <a:avLst>
              <a:gd name="adj" fmla="val 8000"/>
            </a:avLst>
          </a:prstGeom>
          <a:solidFill>
            <a:srgbClr val="6366F1">
              <a:alpha val="26000"/>
            </a:srgbClr>
          </a:solidFill>
          <a:ln w="9525">
            <a:solidFill>
              <a:srgbClr val="818CF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11480" y="3108960"/>
            <a:ext cx="5623560" cy="502920"/>
          </a:xfrm>
          <a:prstGeom prst="roundRect">
            <a:avLst>
              <a:gd name="adj" fmla="val 12000"/>
            </a:avLst>
          </a:prstGeom>
          <a:solidFill>
            <a:srgbClr val="11163A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84632" y="3182112"/>
            <a:ext cx="1371600" cy="356616"/>
          </a:xfrm>
          <a:prstGeom prst="roundRect">
            <a:avLst>
              <a:gd name="adj" fmla="val 20000"/>
            </a:avLst>
          </a:prstGeom>
          <a:solidFill>
            <a:srgbClr val="1E1B4B"/>
          </a:solidFill>
          <a:ln w="9525">
            <a:solidFill>
              <a:srgbClr val="6366F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4632" y="3182112"/>
            <a:ext cx="1371600" cy="3566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2B6"/>
                </a:solidFill>
                <a:latin typeface="Courier New"/>
              </a:rPr>
              <a:t>&lt;select&gt;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3108960"/>
            <a:ext cx="3995928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Arial"/>
              </a:rPr>
              <a:t>Cria a lista suspensa: a caixinha com a setinha.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32320" y="3035808"/>
            <a:ext cx="3794760" cy="1234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9A8D4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178040" y="3081528"/>
            <a:ext cx="3703320" cy="365760"/>
          </a:xfrm>
          <a:prstGeom prst="rect">
            <a:avLst/>
          </a:prstGeom>
          <a:solidFill>
            <a:srgbClr val="FCE7F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200" y="3081528"/>
            <a:ext cx="35204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2937"/>
                </a:solidFill>
                <a:latin typeface="Arial"/>
              </a:rPr>
              <a:t>Chocolate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3465576"/>
            <a:ext cx="35204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2937"/>
                </a:solidFill>
                <a:latin typeface="Arial"/>
              </a:rPr>
              <a:t>Morango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3849624"/>
            <a:ext cx="35204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2937"/>
                </a:solidFill>
                <a:latin typeface="Arial"/>
              </a:rPr>
              <a:t>Ninho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5488" y="2049780"/>
            <a:ext cx="5495544" cy="580644"/>
          </a:xfrm>
          <a:prstGeom prst="roundRect">
            <a:avLst>
              <a:gd name="adj" fmla="val 8000"/>
            </a:avLst>
          </a:prstGeom>
          <a:solidFill>
            <a:srgbClr val="6366F1">
              <a:alpha val="26000"/>
            </a:srgbClr>
          </a:solidFill>
          <a:ln w="9525">
            <a:solidFill>
              <a:srgbClr val="818CF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411480" y="3685032"/>
            <a:ext cx="5623560" cy="502920"/>
          </a:xfrm>
          <a:prstGeom prst="roundRect">
            <a:avLst>
              <a:gd name="adj" fmla="val 12000"/>
            </a:avLst>
          </a:prstGeom>
          <a:solidFill>
            <a:srgbClr val="11163A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484632" y="3758184"/>
            <a:ext cx="1371600" cy="356616"/>
          </a:xfrm>
          <a:prstGeom prst="roundRect">
            <a:avLst>
              <a:gd name="adj" fmla="val 20000"/>
            </a:avLst>
          </a:prstGeom>
          <a:solidFill>
            <a:srgbClr val="1E1B4B"/>
          </a:solidFill>
          <a:ln w="9525">
            <a:solidFill>
              <a:srgbClr val="6366F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84632" y="3758184"/>
            <a:ext cx="1371600" cy="3566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2B6"/>
                </a:solidFill>
                <a:latin typeface="Courier New"/>
              </a:rPr>
              <a:t>&lt;option&gt;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3685032"/>
            <a:ext cx="3995928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Arial"/>
              </a:rPr>
              <a:t>Cada opção da lista. A primeira já vem escolhida.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78040" y="3465576"/>
            <a:ext cx="3703320" cy="36576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315200" y="3465576"/>
            <a:ext cx="35204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Morango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132320" y="4498848"/>
            <a:ext cx="3794760" cy="384048"/>
          </a:xfrm>
          <a:prstGeom prst="roundRect">
            <a:avLst>
              <a:gd name="adj" fmla="val 30000"/>
            </a:avLst>
          </a:prstGeom>
          <a:solidFill>
            <a:srgbClr val="1E1B4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132320" y="4498848"/>
            <a:ext cx="379476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Courier New"/>
              </a:rPr>
              <a:t>enviado: sabor=morango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75488" y="2240280"/>
            <a:ext cx="5495544" cy="199644"/>
          </a:xfrm>
          <a:prstGeom prst="roundRect">
            <a:avLst>
              <a:gd name="adj" fmla="val 8000"/>
            </a:avLst>
          </a:prstGeom>
          <a:solidFill>
            <a:srgbClr val="6366F1">
              <a:alpha val="26000"/>
            </a:srgbClr>
          </a:solidFill>
          <a:ln w="9525">
            <a:solidFill>
              <a:srgbClr val="818CF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411480" y="4261104"/>
            <a:ext cx="5623560" cy="502920"/>
          </a:xfrm>
          <a:prstGeom prst="roundRect">
            <a:avLst>
              <a:gd name="adj" fmla="val 12000"/>
            </a:avLst>
          </a:prstGeom>
          <a:solidFill>
            <a:srgbClr val="11163A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484632" y="4334256"/>
            <a:ext cx="1371600" cy="356616"/>
          </a:xfrm>
          <a:prstGeom prst="roundRect">
            <a:avLst>
              <a:gd name="adj" fmla="val 20000"/>
            </a:avLst>
          </a:prstGeom>
          <a:solidFill>
            <a:srgbClr val="1E1B4B"/>
          </a:solidFill>
          <a:ln w="9525">
            <a:solidFill>
              <a:srgbClr val="6366F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84632" y="4334256"/>
            <a:ext cx="1371600" cy="3566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2B6"/>
                </a:solidFill>
                <a:latin typeface="Courier New"/>
              </a:rPr>
              <a:t>value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65960" y="4261104"/>
            <a:ext cx="3995928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Arial"/>
              </a:rPr>
              <a:t>A pessoa vê "Morango". O servidor recebe o name e o value: sabor=morango.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32320" y="5001768"/>
            <a:ext cx="37947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E185D"/>
                </a:solidFill>
                <a:latin typeface="Courier New"/>
              </a:rPr>
              <a:t>for="sabor"</a:t>
            </a:r>
            <a:r>
              <a:rPr sz="1050" b="0" i="0">
                <a:solidFill>
                  <a:srgbClr val="1F2937"/>
                </a:solidFill>
                <a:latin typeface="Arial"/>
              </a:rPr>
              <a:t>  igual ao  </a:t>
            </a:r>
            <a:r>
              <a:rPr sz="1050" b="1" i="0">
                <a:solidFill>
                  <a:srgbClr val="BE185D"/>
                </a:solidFill>
                <a:latin typeface="Courier New"/>
              </a:rPr>
              <a:t>id="sabor"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75488" y="1668780"/>
            <a:ext cx="5495544" cy="390144"/>
          </a:xfrm>
          <a:prstGeom prst="roundRect">
            <a:avLst>
              <a:gd name="adj" fmla="val 8000"/>
            </a:avLst>
          </a:prstGeom>
          <a:solidFill>
            <a:srgbClr val="6366F1">
              <a:alpha val="26000"/>
            </a:srgbClr>
          </a:solidFill>
          <a:ln w="9525">
            <a:solidFill>
              <a:srgbClr val="818CF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411480" y="4837176"/>
            <a:ext cx="5623560" cy="502920"/>
          </a:xfrm>
          <a:prstGeom prst="roundRect">
            <a:avLst>
              <a:gd name="adj" fmla="val 12000"/>
            </a:avLst>
          </a:prstGeom>
          <a:solidFill>
            <a:srgbClr val="11163A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484632" y="4910328"/>
            <a:ext cx="1371600" cy="356616"/>
          </a:xfrm>
          <a:prstGeom prst="roundRect">
            <a:avLst>
              <a:gd name="adj" fmla="val 20000"/>
            </a:avLst>
          </a:prstGeom>
          <a:solidFill>
            <a:srgbClr val="1E1B4B"/>
          </a:solidFill>
          <a:ln w="9525">
            <a:solidFill>
              <a:srgbClr val="6366F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84632" y="4910328"/>
            <a:ext cx="1371600" cy="3566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2B6"/>
                </a:solidFill>
                <a:latin typeface="Courier New"/>
              </a:rPr>
              <a:t>for = id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65960" y="4837176"/>
            <a:ext cx="3995928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Arial"/>
              </a:rPr>
              <a:t>O for do label tem que ser igual ao id do campo. Se forem diferentes, o texto fica solto.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34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34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4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3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34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4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4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4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4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5" grpId="1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5" grpId="1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4" grpId="1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B1026"/>
            </a:gs>
            <a:gs pos="100000">
              <a:srgbClr val="1C1245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250">
                <a:solidFill>
                  <a:srgbClr val="C084FC"/>
                </a:solidFill>
                <a:latin typeface="Arial"/>
              </a:rPr>
              <a:t>06 · FORMULÁRIOS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8FAFC"/>
                </a:solidFill>
                <a:latin typeface="Arial"/>
              </a:rPr>
              <a:t>Data, radio e &lt;textarea&gt;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280"/>
                </a:solidFill>
                <a:latin typeface="Arial"/>
              </a:rPr>
              <a:t>Guia das tags HTML · Linguagem de Marcação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280"/>
                </a:solidFill>
                <a:latin typeface="Arial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25880"/>
            <a:ext cx="5623560" cy="2226564"/>
          </a:xfrm>
          <a:prstGeom prst="roundRect">
            <a:avLst>
              <a:gd name="adj" fmla="val 4000"/>
            </a:avLst>
          </a:prstGeom>
          <a:solidFill>
            <a:srgbClr val="0E1230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57784" y="1444752"/>
            <a:ext cx="100584" cy="100584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13232" y="1444752"/>
            <a:ext cx="100584" cy="100584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68680" y="1444752"/>
            <a:ext cx="100584" cy="100584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1380744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4A3B8"/>
                </a:solidFill>
                <a:latin typeface="Courier New"/>
              </a:rPr>
              <a:t>index.html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" y="1673352"/>
            <a:ext cx="5440680" cy="17602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472B6"/>
                </a:solidFill>
                <a:latin typeface="Courier New"/>
              </a:rPr>
              <a:t>&lt;label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FBBF24"/>
                </a:solidFill>
                <a:latin typeface="Courier New"/>
              </a:rPr>
              <a:t>for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=</a:t>
            </a:r>
            <a:r>
              <a:rPr sz="1050" b="0" i="0">
                <a:solidFill>
                  <a:srgbClr val="34D399"/>
                </a:solidFill>
                <a:latin typeface="Courier New"/>
              </a:rPr>
              <a:t>"retirada"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&gt;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Data de retirada: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&lt;/label&gt;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472B6"/>
                </a:solidFill>
                <a:latin typeface="Courier New"/>
              </a:rPr>
              <a:t>&lt;input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FBBF24"/>
                </a:solidFill>
                <a:latin typeface="Courier New"/>
              </a:rPr>
              <a:t>type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=</a:t>
            </a:r>
            <a:r>
              <a:rPr sz="1050" b="0" i="0">
                <a:solidFill>
                  <a:srgbClr val="34D399"/>
                </a:solidFill>
                <a:latin typeface="Courier New"/>
              </a:rPr>
              <a:t>"date"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FBBF24"/>
                </a:solidFill>
                <a:latin typeface="Courier New"/>
              </a:rPr>
              <a:t>id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=</a:t>
            </a:r>
            <a:r>
              <a:rPr sz="1050" b="0" i="0">
                <a:solidFill>
                  <a:srgbClr val="34D399"/>
                </a:solidFill>
                <a:latin typeface="Courier New"/>
              </a:rPr>
              <a:t>"retirada"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FBBF24"/>
                </a:solidFill>
                <a:latin typeface="Courier New"/>
              </a:rPr>
              <a:t>name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=</a:t>
            </a:r>
            <a:r>
              <a:rPr sz="1050" b="0" i="0">
                <a:solidFill>
                  <a:srgbClr val="34D399"/>
                </a:solidFill>
                <a:latin typeface="Courier New"/>
              </a:rPr>
              <a:t>"retirada"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&gt;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472B6"/>
                </a:solidFill>
                <a:latin typeface="Courier New"/>
              </a:rPr>
              <a:t>&lt;input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FBBF24"/>
                </a:solidFill>
                <a:latin typeface="Courier New"/>
              </a:rPr>
              <a:t>type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=</a:t>
            </a:r>
            <a:r>
              <a:rPr sz="1050" b="0" i="0">
                <a:solidFill>
                  <a:srgbClr val="34D399"/>
                </a:solidFill>
                <a:latin typeface="Courier New"/>
              </a:rPr>
              <a:t>"radio"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FBBF24"/>
                </a:solidFill>
                <a:latin typeface="Courier New"/>
              </a:rPr>
              <a:t>id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=</a:t>
            </a:r>
            <a:r>
              <a:rPr sz="1050" b="0" i="0">
                <a:solidFill>
                  <a:srgbClr val="34D399"/>
                </a:solidFill>
                <a:latin typeface="Courier New"/>
              </a:rPr>
              <a:t>"loja"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FBBF24"/>
                </a:solidFill>
                <a:latin typeface="Courier New"/>
              </a:rPr>
              <a:t>name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=</a:t>
            </a:r>
            <a:r>
              <a:rPr sz="1050" b="0" i="0">
                <a:solidFill>
                  <a:srgbClr val="34D399"/>
                </a:solidFill>
                <a:latin typeface="Courier New"/>
              </a:rPr>
              <a:t>"recebimento"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Courier New"/>
              </a:rPr>
              <a:t>       </a:t>
            </a:r>
            <a:r>
              <a:rPr sz="1050" b="0" i="0">
                <a:solidFill>
                  <a:srgbClr val="FBBF24"/>
                </a:solidFill>
                <a:latin typeface="Courier New"/>
              </a:rPr>
              <a:t>value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=</a:t>
            </a:r>
            <a:r>
              <a:rPr sz="1050" b="0" i="0">
                <a:solidFill>
                  <a:srgbClr val="34D399"/>
                </a:solidFill>
                <a:latin typeface="Courier New"/>
              </a:rPr>
              <a:t>"loja"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&gt;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472B6"/>
                </a:solidFill>
                <a:latin typeface="Courier New"/>
              </a:rPr>
              <a:t>&lt;label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FBBF24"/>
                </a:solidFill>
                <a:latin typeface="Courier New"/>
              </a:rPr>
              <a:t>for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=</a:t>
            </a:r>
            <a:r>
              <a:rPr sz="1050" b="0" i="0">
                <a:solidFill>
                  <a:srgbClr val="34D399"/>
                </a:solidFill>
                <a:latin typeface="Courier New"/>
              </a:rPr>
              <a:t>"loja"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&gt;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Retirar na loja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&lt;/label&gt;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472B6"/>
                </a:solidFill>
                <a:latin typeface="Courier New"/>
              </a:rPr>
              <a:t>&lt;input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FBBF24"/>
                </a:solidFill>
                <a:latin typeface="Courier New"/>
              </a:rPr>
              <a:t>type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=</a:t>
            </a:r>
            <a:r>
              <a:rPr sz="1050" b="0" i="0">
                <a:solidFill>
                  <a:srgbClr val="34D399"/>
                </a:solidFill>
                <a:latin typeface="Courier New"/>
              </a:rPr>
              <a:t>"radio"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FBBF24"/>
                </a:solidFill>
                <a:latin typeface="Courier New"/>
              </a:rPr>
              <a:t>id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=</a:t>
            </a:r>
            <a:r>
              <a:rPr sz="1050" b="0" i="0">
                <a:solidFill>
                  <a:srgbClr val="34D399"/>
                </a:solidFill>
                <a:latin typeface="Courier New"/>
              </a:rPr>
              <a:t>"entrega"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FBBF24"/>
                </a:solidFill>
                <a:latin typeface="Courier New"/>
              </a:rPr>
              <a:t>name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=</a:t>
            </a:r>
            <a:r>
              <a:rPr sz="1050" b="0" i="0">
                <a:solidFill>
                  <a:srgbClr val="34D399"/>
                </a:solidFill>
                <a:latin typeface="Courier New"/>
              </a:rPr>
              <a:t>"recebimento"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Courier New"/>
              </a:rPr>
              <a:t>       </a:t>
            </a:r>
            <a:r>
              <a:rPr sz="1050" b="0" i="0">
                <a:solidFill>
                  <a:srgbClr val="FBBF24"/>
                </a:solidFill>
                <a:latin typeface="Courier New"/>
              </a:rPr>
              <a:t>value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=</a:t>
            </a:r>
            <a:r>
              <a:rPr sz="1050" b="0" i="0">
                <a:solidFill>
                  <a:srgbClr val="34D399"/>
                </a:solidFill>
                <a:latin typeface="Courier New"/>
              </a:rPr>
              <a:t>"entrega"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&gt;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472B6"/>
                </a:solidFill>
                <a:latin typeface="Courier New"/>
              </a:rPr>
              <a:t>&lt;label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FBBF24"/>
                </a:solidFill>
                <a:latin typeface="Courier New"/>
              </a:rPr>
              <a:t>for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=</a:t>
            </a:r>
            <a:r>
              <a:rPr sz="1050" b="0" i="0">
                <a:solidFill>
                  <a:srgbClr val="34D399"/>
                </a:solidFill>
                <a:latin typeface="Courier New"/>
              </a:rPr>
              <a:t>"entrega"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&gt;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Entrega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&lt;/label&gt;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472B6"/>
                </a:solidFill>
                <a:latin typeface="Courier New"/>
              </a:rPr>
              <a:t>&lt;textarea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FBBF24"/>
                </a:solidFill>
                <a:latin typeface="Courier New"/>
              </a:rPr>
              <a:t>id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=</a:t>
            </a:r>
            <a:r>
              <a:rPr sz="1050" b="0" i="0">
                <a:solidFill>
                  <a:srgbClr val="34D399"/>
                </a:solidFill>
                <a:latin typeface="Courier New"/>
              </a:rPr>
              <a:t>"obs"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FBBF24"/>
                </a:solidFill>
                <a:latin typeface="Courier New"/>
              </a:rPr>
              <a:t>name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=</a:t>
            </a:r>
            <a:r>
              <a:rPr sz="1050" b="0" i="0">
                <a:solidFill>
                  <a:srgbClr val="34D399"/>
                </a:solidFill>
                <a:latin typeface="Courier New"/>
              </a:rPr>
              <a:t>"observacoes"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&gt;&lt;/textarea&gt;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325880"/>
            <a:ext cx="5532120" cy="4937760"/>
          </a:xfrm>
          <a:prstGeom prst="roundRect">
            <a:avLst>
              <a:gd name="adj" fmla="val 3000"/>
            </a:avLst>
          </a:prstGeom>
          <a:solidFill>
            <a:srgbClr val="1B2045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09944" y="1444752"/>
            <a:ext cx="100584" cy="100584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565392" y="1444752"/>
            <a:ext cx="100584" cy="100584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720840" y="1444752"/>
            <a:ext cx="100584" cy="100584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949440" y="1389888"/>
            <a:ext cx="4663440" cy="219456"/>
          </a:xfrm>
          <a:prstGeom prst="roundRect">
            <a:avLst>
              <a:gd name="adj" fmla="val 40000"/>
            </a:avLst>
          </a:prstGeom>
          <a:solidFill>
            <a:srgbClr val="0E123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86600" y="1389888"/>
            <a:ext cx="443484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4A3B8"/>
                </a:solidFill>
                <a:latin typeface="Courier New"/>
              </a:rPr>
              <a:t>docesabor.com.br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1709928"/>
            <a:ext cx="5349240" cy="4462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55080" y="1709928"/>
            <a:ext cx="5349240" cy="4462272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766560" y="1938528"/>
            <a:ext cx="4526280" cy="40050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C489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95160" y="207568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F2A1E"/>
                </a:solidFill>
                <a:latin typeface="Arial"/>
              </a:rPr>
              <a:t>Data de retirada: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95160" y="2395728"/>
            <a:ext cx="1828800" cy="365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9A8D4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086600" y="2395728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937"/>
                </a:solidFill>
                <a:latin typeface="Arial"/>
              </a:rPr>
              <a:t>31/10/2026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6840" y="2075688"/>
            <a:ext cx="210312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006840" y="2103120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2A1E"/>
                </a:solidFill>
                <a:latin typeface="Arial"/>
              </a:rPr>
              <a:t>outubro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2350008"/>
            <a:ext cx="2011680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4B5563"/>
                </a:solidFill>
                <a:latin typeface="Courier New"/>
              </a:rPr>
              <a:t>  1   2   3   4   5   6   7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4B5563"/>
                </a:solidFill>
                <a:latin typeface="Courier New"/>
              </a:rPr>
              <a:t>  8   9  10  11  12  13  14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4B5563"/>
                </a:solidFill>
                <a:latin typeface="Courier New"/>
              </a:rPr>
              <a:t> 15  16  17  18  19  20  21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4B5563"/>
                </a:solidFill>
                <a:latin typeface="Courier New"/>
              </a:rPr>
              <a:t> 22  23  24  25  26  27  28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4B5563"/>
                </a:solidFill>
                <a:latin typeface="Courier New"/>
              </a:rPr>
              <a:t> 29  30  31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1668780"/>
            <a:ext cx="5495544" cy="390144"/>
          </a:xfrm>
          <a:prstGeom prst="roundRect">
            <a:avLst>
              <a:gd name="adj" fmla="val 8000"/>
            </a:avLst>
          </a:prstGeom>
          <a:solidFill>
            <a:srgbClr val="6366F1">
              <a:alpha val="26000"/>
            </a:srgbClr>
          </a:solidFill>
          <a:ln w="9525">
            <a:solidFill>
              <a:srgbClr val="818CF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411480" y="3680460"/>
            <a:ext cx="5623560" cy="512064"/>
          </a:xfrm>
          <a:prstGeom prst="roundRect">
            <a:avLst>
              <a:gd name="adj" fmla="val 12000"/>
            </a:avLst>
          </a:prstGeom>
          <a:solidFill>
            <a:srgbClr val="11163A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484632" y="3753612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1E1B4B"/>
          </a:solidFill>
          <a:ln w="9525">
            <a:solidFill>
              <a:srgbClr val="6366F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84632" y="3753612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2B6"/>
                </a:solidFill>
                <a:latin typeface="Courier New"/>
              </a:rPr>
              <a:t>type="date"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3680460"/>
            <a:ext cx="3904488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Arial"/>
              </a:rPr>
              <a:t>Mostra um calendário para escolher a data. Nada de digitar errado.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358444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F2A1E"/>
                </a:solidFill>
                <a:latin typeface="Arial"/>
              </a:rPr>
              <a:t>Recebimento:</a:t>
            </a:r>
          </a:p>
        </p:txBody>
      </p:sp>
      <p:sp>
        <p:nvSpPr>
          <p:cNvPr id="33" name="Oval 32"/>
          <p:cNvSpPr/>
          <p:nvPr/>
        </p:nvSpPr>
        <p:spPr>
          <a:xfrm>
            <a:off x="7040880" y="3950208"/>
            <a:ext cx="219456" cy="2194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C489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360920" y="3895344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F2A1E"/>
                </a:solidFill>
                <a:latin typeface="Arial"/>
              </a:rPr>
              <a:t>Retirar na loja</a:t>
            </a:r>
          </a:p>
        </p:txBody>
      </p:sp>
      <p:sp>
        <p:nvSpPr>
          <p:cNvPr id="35" name="Oval 34"/>
          <p:cNvSpPr/>
          <p:nvPr/>
        </p:nvSpPr>
        <p:spPr>
          <a:xfrm>
            <a:off x="8869680" y="3950208"/>
            <a:ext cx="219456" cy="2194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C489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189720" y="3895344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F2A1E"/>
                </a:solidFill>
                <a:latin typeface="Arial"/>
              </a:rPr>
              <a:t>Entrega</a:t>
            </a:r>
          </a:p>
        </p:txBody>
      </p:sp>
      <p:sp>
        <p:nvSpPr>
          <p:cNvPr id="37" name="Oval 36"/>
          <p:cNvSpPr/>
          <p:nvPr/>
        </p:nvSpPr>
        <p:spPr>
          <a:xfrm>
            <a:off x="8924544" y="4005072"/>
            <a:ext cx="109728" cy="109728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6995160" y="4315968"/>
            <a:ext cx="3566160" cy="274320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995160" y="4315968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2937"/>
                </a:solidFill>
                <a:latin typeface="Arial"/>
              </a:rPr>
              <a:t>mesmo name: só dá para marcar uma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75488" y="2049780"/>
            <a:ext cx="5495544" cy="1152144"/>
          </a:xfrm>
          <a:prstGeom prst="roundRect">
            <a:avLst>
              <a:gd name="adj" fmla="val 8000"/>
            </a:avLst>
          </a:prstGeom>
          <a:solidFill>
            <a:srgbClr val="6366F1">
              <a:alpha val="26000"/>
            </a:srgbClr>
          </a:solidFill>
          <a:ln w="9525">
            <a:solidFill>
              <a:srgbClr val="818CF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411480" y="4265676"/>
            <a:ext cx="5623560" cy="512064"/>
          </a:xfrm>
          <a:prstGeom prst="roundRect">
            <a:avLst>
              <a:gd name="adj" fmla="val 12000"/>
            </a:avLst>
          </a:prstGeom>
          <a:solidFill>
            <a:srgbClr val="11163A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484632" y="4338828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1E1B4B"/>
          </a:solidFill>
          <a:ln w="9525">
            <a:solidFill>
              <a:srgbClr val="6366F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84632" y="4338828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2B6"/>
                </a:solidFill>
                <a:latin typeface="Courier New"/>
              </a:rPr>
              <a:t>type="radio"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57400" y="4265676"/>
            <a:ext cx="3904488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Arial"/>
              </a:rPr>
              <a:t>Bolinhas de escolha. Com o mesmo name, só dá para marcar uma delas.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95160" y="477316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F2A1E"/>
                </a:solidFill>
                <a:latin typeface="Arial"/>
              </a:rPr>
              <a:t>Observações: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995160" y="5093208"/>
            <a:ext cx="406908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9A8D4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132320" y="5138928"/>
            <a:ext cx="379476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B5563"/>
                </a:solidFill>
                <a:latin typeface="Arial"/>
              </a:rPr>
              <a:t>Escrever "Feliz aniversário, Ana!" no bolo.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75488" y="3192780"/>
            <a:ext cx="5495544" cy="199644"/>
          </a:xfrm>
          <a:prstGeom prst="roundRect">
            <a:avLst>
              <a:gd name="adj" fmla="val 8000"/>
            </a:avLst>
          </a:prstGeom>
          <a:solidFill>
            <a:srgbClr val="6366F1">
              <a:alpha val="26000"/>
            </a:srgbClr>
          </a:solidFill>
          <a:ln w="9525">
            <a:solidFill>
              <a:srgbClr val="818CF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411480" y="4850892"/>
            <a:ext cx="5623560" cy="512064"/>
          </a:xfrm>
          <a:prstGeom prst="roundRect">
            <a:avLst>
              <a:gd name="adj" fmla="val 12000"/>
            </a:avLst>
          </a:prstGeom>
          <a:solidFill>
            <a:srgbClr val="11163A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484632" y="4924044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1E1B4B"/>
          </a:solidFill>
          <a:ln w="9525">
            <a:solidFill>
              <a:srgbClr val="6366F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84632" y="4924044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2B6"/>
                </a:solidFill>
                <a:latin typeface="Courier New"/>
              </a:rPr>
              <a:t>&lt;textarea&gt;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57400" y="4850892"/>
            <a:ext cx="3904488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Arial"/>
              </a:rPr>
              <a:t>Caixa de texto grande, com várias linhas. Boa para observações.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34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3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34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4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4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4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4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7" grpId="1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0" grpId="1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B1026"/>
            </a:gs>
            <a:gs pos="100000">
              <a:srgbClr val="1C1245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250">
                <a:solidFill>
                  <a:srgbClr val="C084FC"/>
                </a:solidFill>
                <a:latin typeface="Arial"/>
              </a:rPr>
              <a:t>06 · FORMULÁRIOS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8FAFC"/>
                </a:solidFill>
                <a:latin typeface="Arial"/>
              </a:rPr>
              <a:t>Checkbox e &lt;button&gt;: marcar e enviar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280"/>
                </a:solidFill>
                <a:latin typeface="Arial"/>
              </a:rPr>
              <a:t>Guia das tags HTML · Linguagem de Marcação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280"/>
                </a:solidFill>
                <a:latin typeface="Arial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25880"/>
            <a:ext cx="5623560" cy="1464564"/>
          </a:xfrm>
          <a:prstGeom prst="roundRect">
            <a:avLst>
              <a:gd name="adj" fmla="val 4000"/>
            </a:avLst>
          </a:prstGeom>
          <a:solidFill>
            <a:srgbClr val="0E1230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57784" y="1444752"/>
            <a:ext cx="100584" cy="100584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13232" y="1444752"/>
            <a:ext cx="100584" cy="100584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68680" y="1444752"/>
            <a:ext cx="100584" cy="100584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1380744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4A3B8"/>
                </a:solidFill>
                <a:latin typeface="Courier New"/>
              </a:rPr>
              <a:t>index.html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" y="1673352"/>
            <a:ext cx="5440680" cy="9982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472B6"/>
                </a:solidFill>
                <a:latin typeface="Courier New"/>
              </a:rPr>
              <a:t>&lt;div&gt;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Courier New"/>
              </a:rPr>
              <a:t>  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&lt;input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FBBF24"/>
                </a:solidFill>
                <a:latin typeface="Courier New"/>
              </a:rPr>
              <a:t>type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=</a:t>
            </a:r>
            <a:r>
              <a:rPr sz="1050" b="0" i="0">
                <a:solidFill>
                  <a:srgbClr val="34D399"/>
                </a:solidFill>
                <a:latin typeface="Courier New"/>
              </a:rPr>
              <a:t>"checkbox"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FBBF24"/>
                </a:solidFill>
                <a:latin typeface="Courier New"/>
              </a:rPr>
              <a:t>id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=</a:t>
            </a:r>
            <a:r>
              <a:rPr sz="1050" b="0" i="0">
                <a:solidFill>
                  <a:srgbClr val="34D399"/>
                </a:solidFill>
                <a:latin typeface="Courier New"/>
              </a:rPr>
              <a:t>"promo"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FBBF24"/>
                </a:solidFill>
                <a:latin typeface="Courier New"/>
              </a:rPr>
              <a:t>name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=</a:t>
            </a:r>
            <a:r>
              <a:rPr sz="1050" b="0" i="0">
                <a:solidFill>
                  <a:srgbClr val="34D399"/>
                </a:solidFill>
                <a:latin typeface="Courier New"/>
              </a:rPr>
              <a:t>"promo"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&gt;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Courier New"/>
              </a:rPr>
              <a:t>  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&lt;label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FBBF24"/>
                </a:solidFill>
                <a:latin typeface="Courier New"/>
              </a:rPr>
              <a:t>for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=</a:t>
            </a:r>
            <a:r>
              <a:rPr sz="1050" b="0" i="0">
                <a:solidFill>
                  <a:srgbClr val="34D399"/>
                </a:solidFill>
                <a:latin typeface="Courier New"/>
              </a:rPr>
              <a:t>"promo"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&gt;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Quero receber promoções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&lt;/label&gt;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472B6"/>
                </a:solidFill>
                <a:latin typeface="Courier New"/>
              </a:rPr>
              <a:t>&lt;/div&gt;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472B6"/>
                </a:solidFill>
                <a:latin typeface="Courier New"/>
              </a:rPr>
              <a:t>&lt;button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FBBF24"/>
                </a:solidFill>
                <a:latin typeface="Courier New"/>
              </a:rPr>
              <a:t>type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=</a:t>
            </a:r>
            <a:r>
              <a:rPr sz="1050" b="0" i="0">
                <a:solidFill>
                  <a:srgbClr val="34D399"/>
                </a:solidFill>
                <a:latin typeface="Courier New"/>
              </a:rPr>
              <a:t>"submit"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&gt;</a:t>
            </a:r>
            <a:r>
              <a:rPr sz="1050" b="0" i="0">
                <a:solidFill>
                  <a:srgbClr val="E5E7EB"/>
                </a:solidFill>
                <a:latin typeface="Courier New"/>
              </a:rPr>
              <a:t>Fazer pedido</a:t>
            </a:r>
            <a:r>
              <a:rPr sz="1050" b="0" i="0">
                <a:solidFill>
                  <a:srgbClr val="F472B6"/>
                </a:solidFill>
                <a:latin typeface="Courier New"/>
              </a:rPr>
              <a:t>&lt;/button&gt;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325880"/>
            <a:ext cx="5532120" cy="4937760"/>
          </a:xfrm>
          <a:prstGeom prst="roundRect">
            <a:avLst>
              <a:gd name="adj" fmla="val 3000"/>
            </a:avLst>
          </a:prstGeom>
          <a:solidFill>
            <a:srgbClr val="1B2045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09944" y="1444752"/>
            <a:ext cx="100584" cy="100584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565392" y="1444752"/>
            <a:ext cx="100584" cy="100584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720840" y="1444752"/>
            <a:ext cx="100584" cy="100584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949440" y="1389888"/>
            <a:ext cx="4663440" cy="219456"/>
          </a:xfrm>
          <a:prstGeom prst="roundRect">
            <a:avLst>
              <a:gd name="adj" fmla="val 40000"/>
            </a:avLst>
          </a:prstGeom>
          <a:solidFill>
            <a:srgbClr val="0E123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86600" y="1389888"/>
            <a:ext cx="443484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4A3B8"/>
                </a:solidFill>
                <a:latin typeface="Courier New"/>
              </a:rPr>
              <a:t>docesabor.com.br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1709928"/>
            <a:ext cx="5349240" cy="4462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55080" y="1709928"/>
            <a:ext cx="5349240" cy="4462272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903720" y="2029968"/>
            <a:ext cx="425196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C489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223760" y="2441448"/>
            <a:ext cx="292608" cy="29260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C489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75488" y="1859280"/>
            <a:ext cx="5495544" cy="199644"/>
          </a:xfrm>
          <a:prstGeom prst="roundRect">
            <a:avLst>
              <a:gd name="adj" fmla="val 8000"/>
            </a:avLst>
          </a:prstGeom>
          <a:solidFill>
            <a:srgbClr val="6366F1">
              <a:alpha val="26000"/>
            </a:srgbClr>
          </a:solidFill>
          <a:ln w="9525">
            <a:solidFill>
              <a:srgbClr val="818CF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11480" y="2918460"/>
            <a:ext cx="5623560" cy="502920"/>
          </a:xfrm>
          <a:prstGeom prst="roundRect">
            <a:avLst>
              <a:gd name="adj" fmla="val 12000"/>
            </a:avLst>
          </a:prstGeom>
          <a:solidFill>
            <a:srgbClr val="11163A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84632" y="2991612"/>
            <a:ext cx="1371600" cy="356616"/>
          </a:xfrm>
          <a:prstGeom prst="roundRect">
            <a:avLst>
              <a:gd name="adj" fmla="val 20000"/>
            </a:avLst>
          </a:prstGeom>
          <a:solidFill>
            <a:srgbClr val="1E1B4B"/>
          </a:solidFill>
          <a:ln w="9525">
            <a:solidFill>
              <a:srgbClr val="6366F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4632" y="2991612"/>
            <a:ext cx="1371600" cy="3566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2B6"/>
                </a:solidFill>
                <a:latin typeface="Courier New"/>
              </a:rPr>
              <a:t>checkbox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65960" y="2918460"/>
            <a:ext cx="3995928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Arial"/>
              </a:rPr>
              <a:t>Caixa de marcar: sim ou não. Dá para marcar várias em um formulário.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35240" y="2395728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F2A1E"/>
                </a:solidFill>
                <a:latin typeface="Arial"/>
              </a:rPr>
              <a:t>Quero receber promoções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23760" y="2441448"/>
            <a:ext cx="292608" cy="292608"/>
          </a:xfrm>
          <a:prstGeom prst="roundRect">
            <a:avLst>
              <a:gd name="adj" fmla="val 15000"/>
            </a:avLst>
          </a:prstGeom>
          <a:solidFill>
            <a:srgbClr val="EC4899"/>
          </a:solidFill>
          <a:ln w="19050">
            <a:solidFill>
              <a:srgbClr val="EC489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223760" y="244144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 Symbol"/>
              </a:rPr>
              <a:t>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35240" y="2898648"/>
            <a:ext cx="2926080" cy="274320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635240" y="2898648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2937"/>
                </a:solidFill>
                <a:latin typeface="Arial"/>
              </a:rPr>
              <a:t>clicar no texto também marca a caixa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2049780"/>
            <a:ext cx="5495544" cy="199644"/>
          </a:xfrm>
          <a:prstGeom prst="roundRect">
            <a:avLst>
              <a:gd name="adj" fmla="val 8000"/>
            </a:avLst>
          </a:prstGeom>
          <a:solidFill>
            <a:srgbClr val="6366F1">
              <a:alpha val="26000"/>
            </a:srgbClr>
          </a:solidFill>
          <a:ln w="9525">
            <a:solidFill>
              <a:srgbClr val="818CF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411480" y="3494532"/>
            <a:ext cx="5623560" cy="502920"/>
          </a:xfrm>
          <a:prstGeom prst="roundRect">
            <a:avLst>
              <a:gd name="adj" fmla="val 12000"/>
            </a:avLst>
          </a:prstGeom>
          <a:solidFill>
            <a:srgbClr val="11163A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484632" y="3567684"/>
            <a:ext cx="1371600" cy="356616"/>
          </a:xfrm>
          <a:prstGeom prst="roundRect">
            <a:avLst>
              <a:gd name="adj" fmla="val 20000"/>
            </a:avLst>
          </a:prstGeom>
          <a:solidFill>
            <a:srgbClr val="1E1B4B"/>
          </a:solidFill>
          <a:ln w="9525">
            <a:solidFill>
              <a:srgbClr val="6366F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84632" y="3567684"/>
            <a:ext cx="1371600" cy="3566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2B6"/>
                </a:solidFill>
                <a:latin typeface="Courier New"/>
              </a:rPr>
              <a:t>&lt;label for&gt;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65960" y="3494532"/>
            <a:ext cx="3995928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Arial"/>
              </a:rPr>
              <a:t>Clicar no texto também marca a caixa. Bem mais fácil no celular.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086600" y="2304288"/>
            <a:ext cx="3886200" cy="96012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94A3B8"/>
            </a:solidFill>
            <a:prstDash val="dash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378440" y="2322576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4748B"/>
                </a:solidFill>
                <a:latin typeface="Courier New"/>
              </a:rPr>
              <a:t>&lt;div&gt;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75488" y="1668780"/>
            <a:ext cx="5495544" cy="771144"/>
          </a:xfrm>
          <a:prstGeom prst="roundRect">
            <a:avLst>
              <a:gd name="adj" fmla="val 8000"/>
            </a:avLst>
          </a:prstGeom>
          <a:solidFill>
            <a:srgbClr val="6366F1">
              <a:alpha val="26000"/>
            </a:srgbClr>
          </a:solidFill>
          <a:ln w="9525">
            <a:solidFill>
              <a:srgbClr val="818CF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411480" y="4070604"/>
            <a:ext cx="5623560" cy="502920"/>
          </a:xfrm>
          <a:prstGeom prst="roundRect">
            <a:avLst>
              <a:gd name="adj" fmla="val 12000"/>
            </a:avLst>
          </a:prstGeom>
          <a:solidFill>
            <a:srgbClr val="11163A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484632" y="4143756"/>
            <a:ext cx="1371600" cy="356616"/>
          </a:xfrm>
          <a:prstGeom prst="roundRect">
            <a:avLst>
              <a:gd name="adj" fmla="val 20000"/>
            </a:avLst>
          </a:prstGeom>
          <a:solidFill>
            <a:srgbClr val="1E1B4B"/>
          </a:solidFill>
          <a:ln w="9525">
            <a:solidFill>
              <a:srgbClr val="6366F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84632" y="4143756"/>
            <a:ext cx="1371600" cy="3566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2B6"/>
                </a:solidFill>
                <a:latin typeface="Courier New"/>
              </a:rPr>
              <a:t>&lt;div&gt;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4070604"/>
            <a:ext cx="3995928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Arial"/>
              </a:rPr>
              <a:t>Só junta a caixa e o texto para o CSS. Não tem significado.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223760" y="3584448"/>
            <a:ext cx="3611880" cy="502920"/>
          </a:xfrm>
          <a:prstGeom prst="roundRect">
            <a:avLst>
              <a:gd name="adj" fmla="val 20000"/>
            </a:avLst>
          </a:prstGeom>
          <a:solidFill>
            <a:srgbClr val="EC489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223760" y="3584448"/>
            <a:ext cx="361188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Fazer pedido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223760" y="4315968"/>
            <a:ext cx="3611880" cy="365760"/>
          </a:xfrm>
          <a:prstGeom prst="roundRect">
            <a:avLst>
              <a:gd name="adj" fmla="val 30000"/>
            </a:avLst>
          </a:prstGeom>
          <a:solidFill>
            <a:srgbClr val="DCFCE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223760" y="4315968"/>
            <a:ext cx="361188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6534"/>
                </a:solidFill>
                <a:latin typeface="Arial"/>
              </a:rPr>
              <a:t>enviado para /encomendas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75488" y="2430780"/>
            <a:ext cx="5495544" cy="199644"/>
          </a:xfrm>
          <a:prstGeom prst="roundRect">
            <a:avLst>
              <a:gd name="adj" fmla="val 8000"/>
            </a:avLst>
          </a:prstGeom>
          <a:solidFill>
            <a:srgbClr val="6366F1">
              <a:alpha val="26000"/>
            </a:srgbClr>
          </a:solidFill>
          <a:ln w="9525">
            <a:solidFill>
              <a:srgbClr val="818CF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411480" y="4646676"/>
            <a:ext cx="5623560" cy="502920"/>
          </a:xfrm>
          <a:prstGeom prst="roundRect">
            <a:avLst>
              <a:gd name="adj" fmla="val 12000"/>
            </a:avLst>
          </a:prstGeom>
          <a:solidFill>
            <a:srgbClr val="11163A"/>
          </a:solidFill>
          <a:ln w="12700">
            <a:solidFill>
              <a:srgbClr val="2F35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484632" y="4719828"/>
            <a:ext cx="1371600" cy="356616"/>
          </a:xfrm>
          <a:prstGeom prst="roundRect">
            <a:avLst>
              <a:gd name="adj" fmla="val 20000"/>
            </a:avLst>
          </a:prstGeom>
          <a:solidFill>
            <a:srgbClr val="1E1B4B"/>
          </a:solidFill>
          <a:ln w="9525">
            <a:solidFill>
              <a:srgbClr val="6366F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84632" y="4719828"/>
            <a:ext cx="1371600" cy="3566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2B6"/>
                </a:solidFill>
                <a:latin typeface="Courier New"/>
              </a:rPr>
              <a:t>&lt;button&gt;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65960" y="4646676"/>
            <a:ext cx="3995928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7EB"/>
                </a:solidFill>
                <a:latin typeface="Arial"/>
              </a:rPr>
              <a:t>O botão. type="submit" envia o formulário para o action do form.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34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34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3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34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4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4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4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4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2" grpId="1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2" grpId="1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39" grpId="1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B1026"/>
            </a:gs>
            <a:gs pos="100000">
              <a:srgbClr val="1C1245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250">
                <a:solidFill>
                  <a:srgbClr val="C084FC"/>
                </a:solidFill>
                <a:latin typeface="Arial"/>
              </a:rPr>
              <a:t>RESUMO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8FAFC"/>
                </a:solidFill>
                <a:latin typeface="Arial"/>
              </a:rPr>
              <a:t>Todas as tags em um só lugar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280"/>
                </a:solidFill>
                <a:latin typeface="Arial"/>
              </a:rPr>
              <a:t>Guia das tags HTML · Linguagem de Marcação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280"/>
                </a:solidFill>
                <a:latin typeface="Arial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2103120" cy="4892040"/>
          </a:xfrm>
          <a:prstGeom prst="roundRect">
            <a:avLst>
              <a:gd name="adj" fmla="val 5000"/>
            </a:avLst>
          </a:prstGeom>
          <a:solidFill>
            <a:srgbClr val="11163A"/>
          </a:solidFill>
          <a:ln w="15875">
            <a:solidFill>
              <a:srgbClr val="818CF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18CF8"/>
                </a:solidFill>
                <a:latin typeface="Arial"/>
              </a:rPr>
              <a:t>Documento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65960"/>
            <a:ext cx="1883664" cy="274320"/>
          </a:xfrm>
          <a:prstGeom prst="roundRect">
            <a:avLst>
              <a:gd name="adj" fmla="val 30000"/>
            </a:avLst>
          </a:prstGeom>
          <a:solidFill>
            <a:srgbClr val="1E1B4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1965960"/>
            <a:ext cx="1883664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18CF8"/>
                </a:solidFill>
                <a:latin typeface="Courier New"/>
              </a:rPr>
              <a:t>&lt;!DOCTYPE&gt;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240280"/>
            <a:ext cx="1883664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E5E7EB"/>
                </a:solidFill>
                <a:latin typeface="Arial"/>
              </a:rPr>
              <a:t>é HTML5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560320"/>
            <a:ext cx="1883664" cy="274320"/>
          </a:xfrm>
          <a:prstGeom prst="roundRect">
            <a:avLst>
              <a:gd name="adj" fmla="val 30000"/>
            </a:avLst>
          </a:prstGeom>
          <a:solidFill>
            <a:srgbClr val="1E1B4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2560320"/>
            <a:ext cx="1883664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18CF8"/>
                </a:solidFill>
                <a:latin typeface="Courier New"/>
              </a:rPr>
              <a:t>&lt;html lang&gt;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834640"/>
            <a:ext cx="1883664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E5E7EB"/>
                </a:solidFill>
                <a:latin typeface="Arial"/>
              </a:rPr>
              <a:t>a página e o idioma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154680"/>
            <a:ext cx="1883664" cy="274320"/>
          </a:xfrm>
          <a:prstGeom prst="roundRect">
            <a:avLst>
              <a:gd name="adj" fmla="val 30000"/>
            </a:avLst>
          </a:prstGeom>
          <a:solidFill>
            <a:srgbClr val="1E1B4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3154680"/>
            <a:ext cx="1883664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18CF8"/>
                </a:solidFill>
                <a:latin typeface="Courier New"/>
              </a:rPr>
              <a:t>&lt;head&gt;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429000"/>
            <a:ext cx="1883664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E5E7EB"/>
                </a:solidFill>
                <a:latin typeface="Arial"/>
              </a:rPr>
              <a:t>bastidores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749040"/>
            <a:ext cx="1883664" cy="274320"/>
          </a:xfrm>
          <a:prstGeom prst="roundRect">
            <a:avLst>
              <a:gd name="adj" fmla="val 30000"/>
            </a:avLst>
          </a:prstGeom>
          <a:solidFill>
            <a:srgbClr val="1E1B4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" y="3749040"/>
            <a:ext cx="1883664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18CF8"/>
                </a:solidFill>
                <a:latin typeface="Courier New"/>
              </a:rPr>
              <a:t>&lt;meta&gt;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023360"/>
            <a:ext cx="1883664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E5E7EB"/>
                </a:solidFill>
                <a:latin typeface="Arial"/>
              </a:rPr>
              <a:t>acentos e celular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343400"/>
            <a:ext cx="1883664" cy="274320"/>
          </a:xfrm>
          <a:prstGeom prst="roundRect">
            <a:avLst>
              <a:gd name="adj" fmla="val 30000"/>
            </a:avLst>
          </a:prstGeom>
          <a:solidFill>
            <a:srgbClr val="1E1B4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" y="4343400"/>
            <a:ext cx="1883664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18CF8"/>
                </a:solidFill>
                <a:latin typeface="Courier New"/>
              </a:rPr>
              <a:t>&lt;title&gt;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4617720"/>
            <a:ext cx="1883664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E5E7EB"/>
                </a:solidFill>
                <a:latin typeface="Arial"/>
              </a:rPr>
              <a:t>nome da aba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937760"/>
            <a:ext cx="1883664" cy="274320"/>
          </a:xfrm>
          <a:prstGeom prst="roundRect">
            <a:avLst>
              <a:gd name="adj" fmla="val 30000"/>
            </a:avLst>
          </a:prstGeom>
          <a:solidFill>
            <a:srgbClr val="1E1B4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" y="4937760"/>
            <a:ext cx="1883664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18CF8"/>
                </a:solidFill>
                <a:latin typeface="Courier New"/>
              </a:rPr>
              <a:t>&lt;link&gt;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212080"/>
            <a:ext cx="1883664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E5E7EB"/>
                </a:solidFill>
                <a:latin typeface="Arial"/>
              </a:rPr>
              <a:t>liga o CSS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532120"/>
            <a:ext cx="1883664" cy="274320"/>
          </a:xfrm>
          <a:prstGeom prst="roundRect">
            <a:avLst>
              <a:gd name="adj" fmla="val 30000"/>
            </a:avLst>
          </a:prstGeom>
          <a:solidFill>
            <a:srgbClr val="1E1B4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8" y="5532120"/>
            <a:ext cx="1883664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18CF8"/>
                </a:solidFill>
                <a:latin typeface="Courier New"/>
              </a:rPr>
              <a:t>&lt;body&gt;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806440"/>
            <a:ext cx="1883664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E5E7EB"/>
                </a:solidFill>
                <a:latin typeface="Arial"/>
              </a:rPr>
              <a:t>o que aparece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88920" y="1371600"/>
            <a:ext cx="2103120" cy="4892040"/>
          </a:xfrm>
          <a:prstGeom prst="roundRect">
            <a:avLst>
              <a:gd name="adj" fmla="val 5000"/>
            </a:avLst>
          </a:prstGeom>
          <a:solidFill>
            <a:srgbClr val="11163A"/>
          </a:solidFill>
          <a:ln w="15875">
            <a:solidFill>
              <a:srgbClr val="34D39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926080" y="150876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4D399"/>
                </a:solidFill>
                <a:latin typeface="Arial"/>
              </a:rPr>
              <a:t>Estrutura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898648" y="1965960"/>
            <a:ext cx="1883664" cy="274320"/>
          </a:xfrm>
          <a:prstGeom prst="roundRect">
            <a:avLst>
              <a:gd name="adj" fmla="val 30000"/>
            </a:avLst>
          </a:prstGeom>
          <a:solidFill>
            <a:srgbClr val="1E1B4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898648" y="1965960"/>
            <a:ext cx="1883664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4D399"/>
                </a:solidFill>
                <a:latin typeface="Courier New"/>
              </a:rPr>
              <a:t>&lt;header&gt;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98648" y="2240280"/>
            <a:ext cx="1883664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E5E7EB"/>
                </a:solidFill>
                <a:latin typeface="Arial"/>
              </a:rPr>
              <a:t>topo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898648" y="2560320"/>
            <a:ext cx="1883664" cy="274320"/>
          </a:xfrm>
          <a:prstGeom prst="roundRect">
            <a:avLst>
              <a:gd name="adj" fmla="val 30000"/>
            </a:avLst>
          </a:prstGeom>
          <a:solidFill>
            <a:srgbClr val="1E1B4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898648" y="2560320"/>
            <a:ext cx="1883664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4D399"/>
                </a:solidFill>
                <a:latin typeface="Courier New"/>
              </a:rPr>
              <a:t>&lt;main&gt;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98648" y="2834640"/>
            <a:ext cx="1883664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E5E7EB"/>
                </a:solidFill>
                <a:latin typeface="Arial"/>
              </a:rPr>
              <a:t>principal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898648" y="3154680"/>
            <a:ext cx="1883664" cy="274320"/>
          </a:xfrm>
          <a:prstGeom prst="roundRect">
            <a:avLst>
              <a:gd name="adj" fmla="val 30000"/>
            </a:avLst>
          </a:prstGeom>
          <a:solidFill>
            <a:srgbClr val="1E1B4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898648" y="3154680"/>
            <a:ext cx="1883664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4D399"/>
                </a:solidFill>
                <a:latin typeface="Courier New"/>
              </a:rPr>
              <a:t>&lt;article&gt;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98648" y="3429000"/>
            <a:ext cx="1883664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E5E7EB"/>
                </a:solidFill>
                <a:latin typeface="Arial"/>
              </a:rPr>
              <a:t>conteúdo sozinho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898648" y="3749040"/>
            <a:ext cx="1883664" cy="274320"/>
          </a:xfrm>
          <a:prstGeom prst="roundRect">
            <a:avLst>
              <a:gd name="adj" fmla="val 30000"/>
            </a:avLst>
          </a:prstGeom>
          <a:solidFill>
            <a:srgbClr val="1E1B4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898648" y="3749040"/>
            <a:ext cx="1883664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4D399"/>
                </a:solidFill>
                <a:latin typeface="Courier New"/>
              </a:rPr>
              <a:t>&lt;section&gt;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98648" y="4023360"/>
            <a:ext cx="1883664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E5E7EB"/>
                </a:solidFill>
                <a:latin typeface="Arial"/>
              </a:rPr>
              <a:t>bloco com tema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898648" y="4343400"/>
            <a:ext cx="1883664" cy="274320"/>
          </a:xfrm>
          <a:prstGeom prst="roundRect">
            <a:avLst>
              <a:gd name="adj" fmla="val 30000"/>
            </a:avLst>
          </a:prstGeom>
          <a:solidFill>
            <a:srgbClr val="1E1B4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898648" y="4343400"/>
            <a:ext cx="1883664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4D399"/>
                </a:solidFill>
                <a:latin typeface="Courier New"/>
              </a:rPr>
              <a:t>&lt;footer&gt;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98648" y="4617720"/>
            <a:ext cx="1883664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E5E7EB"/>
                </a:solidFill>
                <a:latin typeface="Arial"/>
              </a:rPr>
              <a:t>rodapé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898648" y="4937760"/>
            <a:ext cx="1883664" cy="274320"/>
          </a:xfrm>
          <a:prstGeom prst="roundRect">
            <a:avLst>
              <a:gd name="adj" fmla="val 30000"/>
            </a:avLst>
          </a:prstGeom>
          <a:solidFill>
            <a:srgbClr val="1E1B4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898648" y="4937760"/>
            <a:ext cx="1883664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4D399"/>
                </a:solidFill>
                <a:latin typeface="Courier New"/>
              </a:rPr>
              <a:t>&lt;div&gt;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98648" y="5212080"/>
            <a:ext cx="1883664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E5E7EB"/>
                </a:solidFill>
                <a:latin typeface="Arial"/>
              </a:rPr>
              <a:t>caixa sem sentido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029200" y="1371600"/>
            <a:ext cx="2103120" cy="4892040"/>
          </a:xfrm>
          <a:prstGeom prst="roundRect">
            <a:avLst>
              <a:gd name="adj" fmla="val 5000"/>
            </a:avLst>
          </a:prstGeom>
          <a:solidFill>
            <a:srgbClr val="11163A"/>
          </a:solidFill>
          <a:ln w="15875">
            <a:solidFill>
              <a:srgbClr val="FBBF24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166360" y="150876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BBF24"/>
                </a:solidFill>
                <a:latin typeface="Arial"/>
              </a:rPr>
              <a:t>Texto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138928" y="1965960"/>
            <a:ext cx="1883664" cy="274320"/>
          </a:xfrm>
          <a:prstGeom prst="roundRect">
            <a:avLst>
              <a:gd name="adj" fmla="val 30000"/>
            </a:avLst>
          </a:prstGeom>
          <a:solidFill>
            <a:srgbClr val="1E1B4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138928" y="1965960"/>
            <a:ext cx="1883664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BBF24"/>
                </a:solidFill>
                <a:latin typeface="Courier New"/>
              </a:rPr>
              <a:t>&lt;h1&gt;~&lt;h3&gt;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38928" y="2240280"/>
            <a:ext cx="1883664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E5E7EB"/>
                </a:solidFill>
                <a:latin typeface="Arial"/>
              </a:rPr>
              <a:t>títulos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138928" y="2560320"/>
            <a:ext cx="1883664" cy="274320"/>
          </a:xfrm>
          <a:prstGeom prst="roundRect">
            <a:avLst>
              <a:gd name="adj" fmla="val 30000"/>
            </a:avLst>
          </a:prstGeom>
          <a:solidFill>
            <a:srgbClr val="1E1B4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138928" y="2560320"/>
            <a:ext cx="1883664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BBF24"/>
                </a:solidFill>
                <a:latin typeface="Courier New"/>
              </a:rPr>
              <a:t>&lt;p&gt;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138928" y="2834640"/>
            <a:ext cx="1883664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E5E7EB"/>
                </a:solidFill>
                <a:latin typeface="Arial"/>
              </a:rPr>
              <a:t>parágrafo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138928" y="3154680"/>
            <a:ext cx="1883664" cy="274320"/>
          </a:xfrm>
          <a:prstGeom prst="roundRect">
            <a:avLst>
              <a:gd name="adj" fmla="val 30000"/>
            </a:avLst>
          </a:prstGeom>
          <a:solidFill>
            <a:srgbClr val="1E1B4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138928" y="3154680"/>
            <a:ext cx="1883664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BBF24"/>
                </a:solidFill>
                <a:latin typeface="Courier New"/>
              </a:rPr>
              <a:t>&lt;strong&gt;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138928" y="3429000"/>
            <a:ext cx="1883664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E5E7EB"/>
                </a:solidFill>
                <a:latin typeface="Arial"/>
              </a:rPr>
              <a:t>importância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138928" y="3749040"/>
            <a:ext cx="1883664" cy="274320"/>
          </a:xfrm>
          <a:prstGeom prst="roundRect">
            <a:avLst>
              <a:gd name="adj" fmla="val 30000"/>
            </a:avLst>
          </a:prstGeom>
          <a:solidFill>
            <a:srgbClr val="1E1B4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38928" y="3749040"/>
            <a:ext cx="1883664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BBF24"/>
                </a:solidFill>
                <a:latin typeface="Courier New"/>
              </a:rPr>
              <a:t>&lt;em&gt;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138928" y="4023360"/>
            <a:ext cx="1883664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E5E7EB"/>
                </a:solidFill>
                <a:latin typeface="Arial"/>
              </a:rPr>
              <a:t>ênfase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138928" y="4343400"/>
            <a:ext cx="1883664" cy="274320"/>
          </a:xfrm>
          <a:prstGeom prst="roundRect">
            <a:avLst>
              <a:gd name="adj" fmla="val 30000"/>
            </a:avLst>
          </a:prstGeom>
          <a:solidFill>
            <a:srgbClr val="1E1B4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138928" y="4343400"/>
            <a:ext cx="1883664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BBF24"/>
                </a:solidFill>
                <a:latin typeface="Courier New"/>
              </a:rPr>
              <a:t>&lt;b&gt; &lt;i&gt;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138928" y="4617720"/>
            <a:ext cx="1883664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E5E7EB"/>
                </a:solidFill>
                <a:latin typeface="Arial"/>
              </a:rPr>
              <a:t>só visual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138928" y="4937760"/>
            <a:ext cx="1883664" cy="274320"/>
          </a:xfrm>
          <a:prstGeom prst="roundRect">
            <a:avLst>
              <a:gd name="adj" fmla="val 30000"/>
            </a:avLst>
          </a:prstGeom>
          <a:solidFill>
            <a:srgbClr val="1E1B4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5138928" y="4937760"/>
            <a:ext cx="1883664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BBF24"/>
                </a:solidFill>
                <a:latin typeface="Courier New"/>
              </a:rPr>
              <a:t>&lt;time&gt;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138928" y="5212080"/>
            <a:ext cx="1883664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E5E7EB"/>
                </a:solidFill>
                <a:latin typeface="Arial"/>
              </a:rPr>
              <a:t>data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138928" y="5532120"/>
            <a:ext cx="1883664" cy="274320"/>
          </a:xfrm>
          <a:prstGeom prst="roundRect">
            <a:avLst>
              <a:gd name="adj" fmla="val 30000"/>
            </a:avLst>
          </a:prstGeom>
          <a:solidFill>
            <a:srgbClr val="1E1B4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138928" y="5532120"/>
            <a:ext cx="1883664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BBF24"/>
                </a:solidFill>
                <a:latin typeface="Courier New"/>
              </a:rPr>
              <a:t>&lt;address&gt;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138928" y="5806440"/>
            <a:ext cx="1883664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E5E7EB"/>
                </a:solidFill>
                <a:latin typeface="Arial"/>
              </a:rPr>
              <a:t>contato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269480" y="1371600"/>
            <a:ext cx="2103120" cy="4892040"/>
          </a:xfrm>
          <a:prstGeom prst="roundRect">
            <a:avLst>
              <a:gd name="adj" fmla="val 5000"/>
            </a:avLst>
          </a:prstGeom>
          <a:solidFill>
            <a:srgbClr val="11163A"/>
          </a:solidFill>
          <a:ln w="15875">
            <a:solidFill>
              <a:srgbClr val="F472B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406640" y="150876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472B6"/>
                </a:solidFill>
                <a:latin typeface="Arial"/>
              </a:rPr>
              <a:t>Links e mídia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379208" y="1965960"/>
            <a:ext cx="1883664" cy="274320"/>
          </a:xfrm>
          <a:prstGeom prst="roundRect">
            <a:avLst>
              <a:gd name="adj" fmla="val 30000"/>
            </a:avLst>
          </a:prstGeom>
          <a:solidFill>
            <a:srgbClr val="1E1B4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7379208" y="1965960"/>
            <a:ext cx="1883664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2B6"/>
                </a:solidFill>
                <a:latin typeface="Courier New"/>
              </a:rPr>
              <a:t>&lt;a href&gt;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379208" y="2240280"/>
            <a:ext cx="1883664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E5E7EB"/>
                </a:solidFill>
                <a:latin typeface="Arial"/>
              </a:rPr>
              <a:t>link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379208" y="2560320"/>
            <a:ext cx="1883664" cy="274320"/>
          </a:xfrm>
          <a:prstGeom prst="roundRect">
            <a:avLst>
              <a:gd name="adj" fmla="val 30000"/>
            </a:avLst>
          </a:prstGeom>
          <a:solidFill>
            <a:srgbClr val="1E1B4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7379208" y="2560320"/>
            <a:ext cx="1883664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2B6"/>
                </a:solidFill>
                <a:latin typeface="Courier New"/>
              </a:rPr>
              <a:t>mailto: tel: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379208" y="2834640"/>
            <a:ext cx="1883664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E5E7EB"/>
                </a:solidFill>
                <a:latin typeface="Arial"/>
              </a:rPr>
              <a:t>e-mail e ligação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379208" y="3154680"/>
            <a:ext cx="1883664" cy="274320"/>
          </a:xfrm>
          <a:prstGeom prst="roundRect">
            <a:avLst>
              <a:gd name="adj" fmla="val 30000"/>
            </a:avLst>
          </a:prstGeom>
          <a:solidFill>
            <a:srgbClr val="1E1B4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7379208" y="3154680"/>
            <a:ext cx="1883664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2B6"/>
                </a:solidFill>
                <a:latin typeface="Courier New"/>
              </a:rPr>
              <a:t>&amp;copy;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379208" y="3429000"/>
            <a:ext cx="1883664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E5E7EB"/>
                </a:solidFill>
                <a:latin typeface="Arial"/>
              </a:rPr>
              <a:t>vira ©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379208" y="3749040"/>
            <a:ext cx="1883664" cy="274320"/>
          </a:xfrm>
          <a:prstGeom prst="roundRect">
            <a:avLst>
              <a:gd name="adj" fmla="val 30000"/>
            </a:avLst>
          </a:prstGeom>
          <a:solidFill>
            <a:srgbClr val="1E1B4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7379208" y="3749040"/>
            <a:ext cx="1883664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2B6"/>
                </a:solidFill>
                <a:latin typeface="Courier New"/>
              </a:rPr>
              <a:t>&lt;details&gt;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79208" y="4023360"/>
            <a:ext cx="1883664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E5E7EB"/>
                </a:solidFill>
                <a:latin typeface="Arial"/>
              </a:rPr>
              <a:t>abre e fecha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379208" y="4343400"/>
            <a:ext cx="1883664" cy="274320"/>
          </a:xfrm>
          <a:prstGeom prst="roundRect">
            <a:avLst>
              <a:gd name="adj" fmla="val 30000"/>
            </a:avLst>
          </a:prstGeom>
          <a:solidFill>
            <a:srgbClr val="1E1B4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7379208" y="4343400"/>
            <a:ext cx="1883664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2B6"/>
                </a:solidFill>
                <a:latin typeface="Courier New"/>
              </a:rPr>
              <a:t>&lt;summary&gt;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379208" y="4617720"/>
            <a:ext cx="1883664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E5E7EB"/>
                </a:solidFill>
                <a:latin typeface="Arial"/>
              </a:rPr>
              <a:t>título clicável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7379208" y="4937760"/>
            <a:ext cx="1883664" cy="274320"/>
          </a:xfrm>
          <a:prstGeom prst="roundRect">
            <a:avLst>
              <a:gd name="adj" fmla="val 30000"/>
            </a:avLst>
          </a:prstGeom>
          <a:solidFill>
            <a:srgbClr val="1E1B4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7379208" y="4937760"/>
            <a:ext cx="1883664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2B6"/>
                </a:solidFill>
                <a:latin typeface="Courier New"/>
              </a:rPr>
              <a:t>open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379208" y="5212080"/>
            <a:ext cx="1883664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E5E7EB"/>
                </a:solidFill>
                <a:latin typeface="Arial"/>
              </a:rPr>
              <a:t>já começa aberta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7379208" y="5532120"/>
            <a:ext cx="1883664" cy="274320"/>
          </a:xfrm>
          <a:prstGeom prst="roundRect">
            <a:avLst>
              <a:gd name="adj" fmla="val 30000"/>
            </a:avLst>
          </a:prstGeom>
          <a:solidFill>
            <a:srgbClr val="1E1B4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7379208" y="5532120"/>
            <a:ext cx="1883664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72B6"/>
                </a:solidFill>
                <a:latin typeface="Courier New"/>
              </a:rPr>
              <a:t>&lt;iframe&gt;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379208" y="5806440"/>
            <a:ext cx="1883664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E5E7EB"/>
                </a:solidFill>
                <a:latin typeface="Arial"/>
              </a:rPr>
              <a:t>vídeo ou mapa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9509760" y="1371600"/>
            <a:ext cx="2103120" cy="4892040"/>
          </a:xfrm>
          <a:prstGeom prst="roundRect">
            <a:avLst>
              <a:gd name="adj" fmla="val 5000"/>
            </a:avLst>
          </a:prstGeom>
          <a:solidFill>
            <a:srgbClr val="11163A"/>
          </a:solidFill>
          <a:ln w="15875">
            <a:solidFill>
              <a:srgbClr val="FB923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9646920" y="150876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B923C"/>
                </a:solidFill>
                <a:latin typeface="Arial"/>
              </a:rPr>
              <a:t>Formulários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9619488" y="1965960"/>
            <a:ext cx="1883664" cy="274320"/>
          </a:xfrm>
          <a:prstGeom prst="roundRect">
            <a:avLst>
              <a:gd name="adj" fmla="val 30000"/>
            </a:avLst>
          </a:prstGeom>
          <a:solidFill>
            <a:srgbClr val="1E1B4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9619488" y="1965960"/>
            <a:ext cx="1883664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B923C"/>
                </a:solidFill>
                <a:latin typeface="Courier New"/>
              </a:rPr>
              <a:t>&lt;form&gt;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619488" y="2240280"/>
            <a:ext cx="1883664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E5E7EB"/>
                </a:solidFill>
                <a:latin typeface="Arial"/>
              </a:rPr>
              <a:t>agrupa e envia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9619488" y="2560320"/>
            <a:ext cx="1883664" cy="274320"/>
          </a:xfrm>
          <a:prstGeom prst="roundRect">
            <a:avLst>
              <a:gd name="adj" fmla="val 30000"/>
            </a:avLst>
          </a:prstGeom>
          <a:solidFill>
            <a:srgbClr val="1E1B4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9619488" y="2560320"/>
            <a:ext cx="1883664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B923C"/>
                </a:solidFill>
                <a:latin typeface="Courier New"/>
              </a:rPr>
              <a:t>&lt;label&gt;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619488" y="2834640"/>
            <a:ext cx="1883664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E5E7EB"/>
                </a:solidFill>
                <a:latin typeface="Arial"/>
              </a:rPr>
              <a:t>nome do campo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9619488" y="3154680"/>
            <a:ext cx="1883664" cy="274320"/>
          </a:xfrm>
          <a:prstGeom prst="roundRect">
            <a:avLst>
              <a:gd name="adj" fmla="val 30000"/>
            </a:avLst>
          </a:prstGeom>
          <a:solidFill>
            <a:srgbClr val="1E1B4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9619488" y="3154680"/>
            <a:ext cx="1883664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B923C"/>
                </a:solidFill>
                <a:latin typeface="Courier New"/>
              </a:rPr>
              <a:t>&lt;input&gt;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619488" y="3429000"/>
            <a:ext cx="1883664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E5E7EB"/>
                </a:solidFill>
                <a:latin typeface="Arial"/>
              </a:rPr>
              <a:t>email, date, radio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9619488" y="3749040"/>
            <a:ext cx="1883664" cy="274320"/>
          </a:xfrm>
          <a:prstGeom prst="roundRect">
            <a:avLst>
              <a:gd name="adj" fmla="val 30000"/>
            </a:avLst>
          </a:prstGeom>
          <a:solidFill>
            <a:srgbClr val="1E1B4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9619488" y="3749040"/>
            <a:ext cx="1883664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B923C"/>
                </a:solidFill>
                <a:latin typeface="Courier New"/>
              </a:rPr>
              <a:t>&lt;select&gt;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619488" y="4023360"/>
            <a:ext cx="1883664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E5E7EB"/>
                </a:solidFill>
                <a:latin typeface="Arial"/>
              </a:rPr>
              <a:t>lista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9619488" y="4343400"/>
            <a:ext cx="1883664" cy="274320"/>
          </a:xfrm>
          <a:prstGeom prst="roundRect">
            <a:avLst>
              <a:gd name="adj" fmla="val 30000"/>
            </a:avLst>
          </a:prstGeom>
          <a:solidFill>
            <a:srgbClr val="1E1B4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9619488" y="4343400"/>
            <a:ext cx="1883664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B923C"/>
                </a:solidFill>
                <a:latin typeface="Courier New"/>
              </a:rPr>
              <a:t>&lt;option&gt;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619488" y="4617720"/>
            <a:ext cx="1883664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E5E7EB"/>
                </a:solidFill>
                <a:latin typeface="Arial"/>
              </a:rPr>
              <a:t>opção com value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9619488" y="4937760"/>
            <a:ext cx="1883664" cy="274320"/>
          </a:xfrm>
          <a:prstGeom prst="roundRect">
            <a:avLst>
              <a:gd name="adj" fmla="val 30000"/>
            </a:avLst>
          </a:prstGeom>
          <a:solidFill>
            <a:srgbClr val="1E1B4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9619488" y="4937760"/>
            <a:ext cx="1883664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B923C"/>
                </a:solidFill>
                <a:latin typeface="Courier New"/>
              </a:rPr>
              <a:t>&lt;textarea&gt;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619488" y="5212080"/>
            <a:ext cx="1883664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E5E7EB"/>
                </a:solidFill>
                <a:latin typeface="Arial"/>
              </a:rPr>
              <a:t>texto grande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9619488" y="5532120"/>
            <a:ext cx="1883664" cy="274320"/>
          </a:xfrm>
          <a:prstGeom prst="roundRect">
            <a:avLst>
              <a:gd name="adj" fmla="val 30000"/>
            </a:avLst>
          </a:prstGeom>
          <a:solidFill>
            <a:srgbClr val="1E1B4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9619488" y="5532120"/>
            <a:ext cx="1883664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B923C"/>
                </a:solidFill>
                <a:latin typeface="Courier New"/>
              </a:rPr>
              <a:t>&lt;button&gt;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619488" y="5806440"/>
            <a:ext cx="1883664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E5E7EB"/>
                </a:solidFill>
                <a:latin typeface="Arial"/>
              </a:rPr>
              <a:t>envia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4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0" dur="4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4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6" dur="4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9" dur="4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4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5" dur="4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8" dur="4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1" dur="4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4" dur="4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7" dur="4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0" dur="4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3" dur="4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6" dur="4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9" dur="4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2" dur="4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5" dur="4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8" dur="4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1" dur="4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4" dur="4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7" dur="4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0" dur="4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3" dur="4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6" dur="4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1" dur="4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4" dur="4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7" dur="4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0" dur="4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3" dur="4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6" dur="4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9" dur="4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2" dur="4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5" dur="4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8" dur="4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1" dur="4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4" dur="45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7" dur="4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0" dur="4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3" dur="4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6" dur="4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9" dur="45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2" dur="4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5" dur="45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8" dur="45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1" dur="45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4" dur="45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7" dur="45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indefinite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2" dur="45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5" dur="45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8" dur="4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1" dur="4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4" dur="45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7" dur="45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0" dur="45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3" dur="45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6" dur="45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9" dur="45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2" dur="45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5" dur="45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8" dur="45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1" dur="45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4" dur="45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7" dur="45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0" dur="45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3" dur="45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6" dur="45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9" dur="45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2" dur="45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5" dur="45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8" dur="45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4857</Words>
  <Application>Microsoft Office PowerPoint</Application>
  <PresentationFormat>Widescreen</PresentationFormat>
  <Paragraphs>670</Paragraphs>
  <Slides>18</Slides>
  <Notes>18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Courier New</vt:lpstr>
      <vt:lpstr>Segoe UI Symbol</vt:lpstr>
      <vt:lpstr>Times New Roman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>MagoRaul</dc:creator>
  <cp:keywords/>
  <dc:description>generated using python-pptx</dc:description>
  <cp:lastModifiedBy>Raul</cp:lastModifiedBy>
  <cp:revision>1</cp:revision>
  <dcterms:created xsi:type="dcterms:W3CDTF">2013-01-27T09:14:16Z</dcterms:created>
  <dcterms:modified xsi:type="dcterms:W3CDTF">2026-10-07T14:31:07Z</dcterms:modified>
  <cp:category/>
</cp:coreProperties>
</file>